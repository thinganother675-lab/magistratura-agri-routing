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75bd9fcb34385" /><Relationship Type="http://schemas.openxmlformats.org/officeDocument/2006/relationships/extended-properties" Target="/docProps/app.xml" Id="Rd16d3129a94f477f" /><Relationship Type="http://schemas.openxmlformats.org/officeDocument/2006/relationships/officeDocument" Target="/ppt/presentation.xml" Id="Rb82b259afbda42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0ae50f9c6743f0"/>
  </p:sldMasterIdLst>
  <p:notesMasterIdLst>
    <p:notesMasterId xmlns:r="http://schemas.openxmlformats.org/officeDocument/2006/relationships" r:id="R6553e0d47ca7419e"/>
  </p:notesMasterIdLst>
  <p:sldIdLst>
    <p:sldId xmlns:r="http://schemas.openxmlformats.org/officeDocument/2006/relationships" id="256" r:id="R0ced23919c804e4f"/>
    <p:sldId xmlns:r="http://schemas.openxmlformats.org/officeDocument/2006/relationships" id="257" r:id="R608e48a29b1846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446abf3ff94ce2" /><Relationship Type="http://schemas.openxmlformats.org/officeDocument/2006/relationships/slideMaster" Target="/ppt/slideMasters/slideMaster1.xml" Id="R090ae50f9c6743f0" /><Relationship Type="http://schemas.openxmlformats.org/officeDocument/2006/relationships/notesMaster" Target="/ppt/notesMasters/notesMaster1.xml" Id="R6553e0d47ca7419e" /><Relationship Type="http://schemas.openxmlformats.org/officeDocument/2006/relationships/presProps" Target="/ppt/presProps.xml" Id="Rc81e8f77e70b4f74" /><Relationship Type="http://schemas.openxmlformats.org/officeDocument/2006/relationships/tableStyles" Target="/ppt/tableStyles.xml" Id="R59a08cc24b604338" /><Relationship Type="http://schemas.openxmlformats.org/officeDocument/2006/relationships/slide" Target="/ppt/slides/slide1.xml" Id="R0ced23919c804e4f" /><Relationship Type="http://schemas.openxmlformats.org/officeDocument/2006/relationships/slide" Target="/ppt/slides/slide2.xml" Id="R608e48a29b18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c528e4cfa4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de080012d4e44" /><Relationship Type="http://schemas.openxmlformats.org/officeDocument/2006/relationships/notesMaster" Target="/ppt/notesMasters/notesMaster1.xml" Id="R8c087061880e4e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0b648bcd7343c6" /><Relationship Type="http://schemas.openxmlformats.org/officeDocument/2006/relationships/notesMaster" Target="/ppt/notesMasters/notesMaster1.xml" Id="Rf463a84fbec8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Вариант 6. Шестернин Денис, группа пока не указана. Учебный заказчик. Цель расширения: 4% -&gt; 3% списаний, снижение на 1 процентный пункт. Это гипотеза, не измеренный результат. Для первого пилота целевой порог 0,5 процентного пункта, не больше +0,5 пункта доли дней дефицита, снижение средней абсолютной ошибки не менее 10% к прошлой неделе. Прогноз не заменяет технолога. Архитектура целевая; текущий прототип не подключён к учётной системе и не хранит журнал утверждений. Источники: https://www.fao.org/dairy-production-products/processing/en/ и https://solutions.1c.ru/catalog/molzavod/features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Учебные допущения, без НДС, кредита и дисконтирования. 843200 руб. работ +197040 руб. резерва +67000 руб. оснащения =1107240. 3000000 упаковок ×0,01×25 руб. избегаемых переменных затрат =750000 руб./год; минус96000 обслуживания =654000. Простая окупаемость1,6930275 полного года эксплуатации, при годовых потоках во втором году. Ожидание ввода не учтено. Снижение списаний на0,5 процентного пункта даёт279000 руб./год и окупаемость3,9686 года. Ни точность искусственного примера, ни порог первого пилота не доказывают базовую экономику. Денис должен объяснить различие. Ответ на возражение: сравнение с простым методом, подтверждение человеком, контроль качества и ручной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40d0cd2f843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dedb504574c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e34a331cd4c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b93c0e40146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8c3f2f0234b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2a4f441e4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56D04D-7FA6-48B5-BB14-B23B701EDC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A8B520-297F-4842-A431-AB435FE855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682380-8910-4286-92FB-9A67321B95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A7067B-02A0-4A52-8E16-FE349AB2B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74C93-AC6D-41D1-BB82-B5557534C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5E34E0-FACD-4018-8C99-5EF612070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0285CD-479A-4661-AC83-1BB94DFC5B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BC7160-CB55-4F24-9D3D-1679CC23C2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FC5892-C9CF-4CB1-B75F-0BDD9CA89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10E6C1-3F84-4F6A-8C48-393CB29E2B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6fa6e5fc704c37" /><Relationship Type="http://schemas.openxmlformats.org/officeDocument/2006/relationships/slideLayout" Target="/ppt/slideLayouts/slideLayout1.xml" Id="R5168b3be5b7847f5" /><Relationship Type="http://schemas.openxmlformats.org/officeDocument/2006/relationships/slideLayout" Target="/ppt/slideLayouts/slideLayout2.xml" Id="R3fdea12a832d441e" /><Relationship Type="http://schemas.openxmlformats.org/officeDocument/2006/relationships/slideLayout" Target="/ppt/slideLayouts/slideLayout3.xml" Id="R284bf47ec8d246c1" /><Relationship Type="http://schemas.openxmlformats.org/officeDocument/2006/relationships/slideLayout" Target="/ppt/slideLayouts/slideLayout4.xml" Id="R36208dc8c1204e92" /><Relationship Type="http://schemas.openxmlformats.org/officeDocument/2006/relationships/slideLayout" Target="/ppt/slideLayouts/slideLayout5.xml" Id="R940e1af545fe4554" /><Relationship Type="http://schemas.openxmlformats.org/officeDocument/2006/relationships/slideLayout" Target="/ppt/slideLayouts/slideLayout6.xml" Id="R782a8551a0d5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68b3be5b7847f5"/>
    <p:sldLayoutId xmlns:r="http://schemas.openxmlformats.org/officeDocument/2006/relationships" id="2147483650" r:id="R3fdea12a832d441e"/>
    <p:sldLayoutId xmlns:r="http://schemas.openxmlformats.org/officeDocument/2006/relationships" id="2147483651" r:id="R284bf47ec8d246c1"/>
    <p:sldLayoutId xmlns:r="http://schemas.openxmlformats.org/officeDocument/2006/relationships" id="2147483652" r:id="R36208dc8c1204e92"/>
    <p:sldLayoutId xmlns:r="http://schemas.openxmlformats.org/officeDocument/2006/relationships" id="2147483653" r:id="R940e1af545fe4554"/>
    <p:sldLayoutId xmlns:r="http://schemas.openxmlformats.org/officeDocument/2006/relationships" id="2147483654" r:id="R782a8551a0d5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a8e552405432d" /><Relationship Type="http://schemas.openxmlformats.org/officeDocument/2006/relationships/notesSlide" Target="/ppt/notesSlides/notesSlide1.xml" Id="R6d773052e4db4a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3e811ec404eb3" /><Relationship Type="http://schemas.openxmlformats.org/officeDocument/2006/relationships/notesSlide" Target="/ppt/notesSlides/notesSlide2.xml" Id="R99850b79275d4d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440CF-04F4-4307-975F-D39F55FA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Выпуск молочной продукции по спросу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21B6C-FD2E-4249-9745-37B8A901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Избыточный выпуск приводит к списаниям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CADC0-A88D-42EC-9534-67AC8167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75D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5D7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D71"/>
                </a:solidFill>
                <a:latin typeface="Arial"/>
                <a:ea typeface="Arial"/>
                <a:cs typeface="Arial"/>
              </a:rPr>
              <a:t>Цель: списания с 4% до 3%</a:t>
            </a:r>
          </a:p>
          <a:p xmlns:a="http://schemas.openxmlformats.org/drawingml/2006/main">
            <a:pPr>
              <a:defRPr sz="3225" b="1">
                <a:solidFill>
                  <a:srgbClr val="175D7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5D71"/>
                </a:solidFill>
                <a:latin typeface="Arial"/>
                <a:ea typeface="Arial"/>
                <a:cs typeface="Arial"/>
              </a:rPr>
              <a:t>при контроле нехватки товара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70C71-676A-45FE-91A6-E56F9B8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9525">
            <a:solidFill>
              <a:srgbClr val="8EAEB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Продажи</a:t>
            </a:r>
          </a:p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и 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53B47-7044-406C-A9F7-AFBB2A73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14750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DB8C3-8D40-414C-A0CE-C114FFE6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242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9525">
            <a:solidFill>
              <a:srgbClr val="8EAEB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Прогноз</a:t>
            </a:r>
          </a:p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на неделю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7E9F6-87F8-4843-A443-C91BBDC7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14750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19DF9-FBA1-4D50-B562-7BA07092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9525">
            <a:solidFill>
              <a:srgbClr val="8EAEB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Остатки</a:t>
            </a:r>
          </a:p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и годность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6A4E1-7E2F-4A27-A121-EF57FAB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AB7BA-4B95-4EB6-80FE-94A3495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1"/>
          </a:solidFill>
          <a:ln xmlns:a="http://schemas.openxmlformats.org/drawingml/2006/main" w="9525">
            <a:solidFill>
              <a:srgbClr val="8EAEB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План</a:t>
            </a:r>
          </a:p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сотрудника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7391C-BFA2-43D5-B2A6-299A137D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Три товара. Прогноз на семь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F78D9-0C6E-4AB6-A05E-7E1DC04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26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269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976"/>
                </a:solidFill>
                <a:latin typeface="Arial"/>
                <a:ea typeface="Arial"/>
                <a:cs typeface="Arial"/>
              </a:rPr>
              <a:t>Демонстрация на искусственных данных.</a:t>
            </a:r>
          </a:p>
          <a:p xmlns:a="http://schemas.openxmlformats.org/drawingml/2006/main">
            <a:pPr>
              <a:defRPr sz="2400" b="0">
                <a:solidFill>
                  <a:srgbClr val="5269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976"/>
                </a:solidFill>
                <a:latin typeface="Arial"/>
                <a:ea typeface="Arial"/>
                <a:cs typeface="Arial"/>
              </a:rPr>
              <a:t>Снижение списаний проверим на предприятии.</a:t>
            </a:r>
          </a:p>
        </p:txBody>
      </p:sp>
    </p:spTree>
    <p:extLst>
      <p:ext uri="{BB962C8B-B14F-4D97-AF65-F5344CB8AC3E}">
        <p14:creationId xmlns:p14="http://schemas.microsoft.com/office/powerpoint/2010/main" val="1764704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D477B-802D-4463-8CBD-BE3FE7B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Инвестиции и проверка результата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A19F4-3CB2-47EC-906C-5D144AF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1 107 240 руб.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85D8-3589-4EE6-B904-7E82343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Начальные инвестиции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7C29B-77EF-45F0-8FC2-926AF647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38275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654 000 руб./год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7337-6FCD-4A54-8AA9-6028C01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Чистый расчётный эффект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3996-13D6-4179-987D-24EC0E46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26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2697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976"/>
                </a:solidFill>
                <a:latin typeface="Arial"/>
                <a:ea typeface="Arial"/>
                <a:cs typeface="Arial"/>
              </a:rPr>
              <a:t>Сценарий: 3 млн упаковок/год, списания с 4% до 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34395-9E0A-4CA3-A163-37500547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5D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5D7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5D71"/>
                </a:solidFill>
                <a:latin typeface="Arial"/>
                <a:ea typeface="Arial"/>
                <a:cs typeface="Arial"/>
              </a:rPr>
              <a:t>1,69 года после ввода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A2BCA-2C23-4786-9B49-B17CDE91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Экономию проверим в пилоте за восемь недель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BBBB0-21BF-4D50-8044-39402C6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A45"/>
                </a:solidFill>
                <a:latin typeface="Arial"/>
                <a:ea typeface="Arial"/>
                <a:cs typeface="Arial"/>
              </a:rPr>
              <a:t>Если модель ошибётся?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FD4A0-C61F-4E51-9663-558DDADE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Сотрудник проверяет план. При ухудшении</a:t>
            </a:r>
          </a:p>
          <a:p xmlns:a="http://schemas.openxmlformats.org/drawingml/2006/main">
            <a:pPr>
              <a:defRPr sz="2400" b="0">
                <a:solidFill>
                  <a:srgbClr val="173A4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A45"/>
                </a:solidFill>
                <a:latin typeface="Arial"/>
                <a:ea typeface="Arial"/>
                <a:cs typeface="Arial"/>
              </a:rPr>
              <a:t>точности используем прогноз по прошлой неделе.</a:t>
            </a:r>
          </a:p>
        </p:txBody>
      </p:sp>
    </p:spTree>
    <p:extLst>
      <p:ext uri="{BB962C8B-B14F-4D97-AF65-F5344CB8AC3E}">
        <p14:creationId xmlns:p14="http://schemas.microsoft.com/office/powerpoint/2010/main" val="620946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2026-10-09T07:30:09.4580000Z</dcterms:created>
  <dcterms:modified xsi:type="dcterms:W3CDTF">2026-10-09T07:30:09.4580000Z</dcterms:modified>
</coreProperties>
</file>