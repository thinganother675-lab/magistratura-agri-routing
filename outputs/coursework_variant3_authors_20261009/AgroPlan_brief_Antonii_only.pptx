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b03876f54d4218" /><Relationship Type="http://schemas.openxmlformats.org/officeDocument/2006/relationships/extended-properties" Target="/docProps/app.xml" Id="R3bb2e1043c1d4ad9" /><Relationship Type="http://schemas.openxmlformats.org/officeDocument/2006/relationships/officeDocument" Target="/ppt/presentation.xml" Id="Rb9ed57eb6ba842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4134eb80894087"/>
  </p:sldMasterIdLst>
  <p:notesMasterIdLst>
    <p:notesMasterId xmlns:r="http://schemas.openxmlformats.org/officeDocument/2006/relationships" r:id="Rc768392cb09e4b05"/>
  </p:notesMasterIdLst>
  <p:sldIdLst>
    <p:sldId xmlns:r="http://schemas.openxmlformats.org/officeDocument/2006/relationships" id="256" r:id="Re02f00c56ac34d20"/>
    <p:sldId xmlns:r="http://schemas.openxmlformats.org/officeDocument/2006/relationships" id="257" r:id="R9ebc038bd0874c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f89ec2f8ff4b0a" /><Relationship Type="http://schemas.openxmlformats.org/officeDocument/2006/relationships/slideMaster" Target="/ppt/slideMasters/slideMaster1.xml" Id="Rbc4134eb80894087" /><Relationship Type="http://schemas.openxmlformats.org/officeDocument/2006/relationships/notesMaster" Target="/ppt/notesMasters/notesMaster1.xml" Id="Rc768392cb09e4b05" /><Relationship Type="http://schemas.openxmlformats.org/officeDocument/2006/relationships/presProps" Target="/ppt/presProps.xml" Id="R974b9e663a804fc3" /><Relationship Type="http://schemas.openxmlformats.org/officeDocument/2006/relationships/tableStyles" Target="/ppt/tableStyles.xml" Id="R789d02d9bce14d19" /><Relationship Type="http://schemas.openxmlformats.org/officeDocument/2006/relationships/slide" Target="/ppt/slides/slide1.xml" Id="Re02f00c56ac34d20" /><Relationship Type="http://schemas.openxmlformats.org/officeDocument/2006/relationships/slide" Target="/ppt/slides/slide2.xml" Id="R9ebc038bd0874c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e1dd01f8b94d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d7503baab5497f" /><Relationship Type="http://schemas.openxmlformats.org/officeDocument/2006/relationships/notesMaster" Target="/ppt/notesMasters/notesMaster1.xml" Id="R47c7093eba924a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e7af32611f4199" /><Relationship Type="http://schemas.openxmlformats.org/officeDocument/2006/relationships/notesMaster" Target="/ppt/notesMasters/notesMaster1.xml" Id="R86612e1e56aa46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Вариант 3. Учебный заказчик «Овощное поле». 10% - целевой порог будущего пилота, не измеренный результат. Архитектура целевая: датчики пока не подключены. Источник агрономической постановки: https://www.fao.org/4/X0490E/x0490e0e.htm. Критерий урожая требует согласованного полевого протокола. Сарычев Антоний, ДЭ-39-26.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цифры - учебные допущения, не фактический эффект. Объём 320000 м3/сезон, 20%=64000 м3, 12 руб./м3 дают 768000 руб., обслуживание 96000 руб., чистый эффект 672000 руб. Инвестиции: 908000 базовые работы +219800 резерв +286000 оборудование=1413800 руб. Окупаемость 2.103869 сезона эксплуатации. Первое полное расширение сценарно 2028, возврат в конце третьего сезона 2030. Задержка до пилота и масштабирования не переводится в месяцы окупаемости. Без НДС, кредита и дисконтирования. Расходы подачи воды включены в 12 руб./м3, электричество отдельно не прибавлено. Состав сметы: паспорт и задание 4. При 8 га только экономия воды не покрывает ежегодное обслуживание.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66c3aea47e4c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bbb0f6d1646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f7acacca9b49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d4d8867df14d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13556186a4d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2aba68b2b64e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FE751B-D11D-46C5-87E9-3EA4C69B3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796A29-C0C3-4D8D-9497-F76B69281E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FC7335-86EB-42C0-BC2A-51ED92A500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F858B8-E1BE-4530-A33D-EA81E2C5CB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657F38-D2F2-4B49-B488-7213D93485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649E84-7889-418C-9644-469B95917A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017D71-A844-4080-A3E8-900F8EEDD8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B63EB15-61AF-44C6-B25A-5D6F4E9D7C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10D7D6-4D7E-42D8-8AA5-20BA8C1E70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1A27F1-51CB-40D4-AFC4-355A1C9811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5fef49c54f4522" /><Relationship Type="http://schemas.openxmlformats.org/officeDocument/2006/relationships/slideLayout" Target="/ppt/slideLayouts/slideLayout1.xml" Id="Rf89d06c8cbfd4842" /><Relationship Type="http://schemas.openxmlformats.org/officeDocument/2006/relationships/slideLayout" Target="/ppt/slideLayouts/slideLayout2.xml" Id="R0b4b7d1d24f848f9" /><Relationship Type="http://schemas.openxmlformats.org/officeDocument/2006/relationships/slideLayout" Target="/ppt/slideLayouts/slideLayout3.xml" Id="R6417d85434af4696" /><Relationship Type="http://schemas.openxmlformats.org/officeDocument/2006/relationships/slideLayout" Target="/ppt/slideLayouts/slideLayout4.xml" Id="Rd1437a4bfeee4ccc" /><Relationship Type="http://schemas.openxmlformats.org/officeDocument/2006/relationships/slideLayout" Target="/ppt/slideLayouts/slideLayout5.xml" Id="R5abca29c8c924d5a" /><Relationship Type="http://schemas.openxmlformats.org/officeDocument/2006/relationships/slideLayout" Target="/ppt/slideLayouts/slideLayout6.xml" Id="Rc7f212db5ade47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9d06c8cbfd4842"/>
    <p:sldLayoutId xmlns:r="http://schemas.openxmlformats.org/officeDocument/2006/relationships" id="2147483650" r:id="R0b4b7d1d24f848f9"/>
    <p:sldLayoutId xmlns:r="http://schemas.openxmlformats.org/officeDocument/2006/relationships" id="2147483651" r:id="R6417d85434af4696"/>
    <p:sldLayoutId xmlns:r="http://schemas.openxmlformats.org/officeDocument/2006/relationships" id="2147483652" r:id="Rd1437a4bfeee4ccc"/>
    <p:sldLayoutId xmlns:r="http://schemas.openxmlformats.org/officeDocument/2006/relationships" id="2147483653" r:id="R5abca29c8c924d5a"/>
    <p:sldLayoutId xmlns:r="http://schemas.openxmlformats.org/officeDocument/2006/relationships" id="2147483654" r:id="Rc7f212db5ade47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e343128e1241b1" /><Relationship Type="http://schemas.openxmlformats.org/officeDocument/2006/relationships/notesSlide" Target="/ppt/notesSlides/notesSlide1.xml" Id="R2dd98bfa2f9749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6da4a7c11243bb" /><Relationship Type="http://schemas.openxmlformats.org/officeDocument/2006/relationships/notesSlide" Target="/ppt/notesSlides/notesSlide2.xml" Id="R451b826360e34f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2F71A-E58B-4879-A8E1-F24A7186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0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Полив томатов по данным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90FE2-A88A-414E-B0F6-8333CFEE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Календарь не учитывает фактическую почву и погоду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60B13-2CCB-440B-9506-D634824C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925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Цель пилота: от 10% экономии воды</a:t>
            </a:r>
          </a:p>
          <a:p xmlns:a="http://schemas.openxmlformats.org/drawingml/2006/main">
            <a:pPr>
              <a:defRPr sz="2925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при соблюдении агрономических ограничений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74C7B-1252-4425-A56B-6EB50872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6"/>
          </a:solidFill>
          <a:ln xmlns:a="http://schemas.openxmlformats.org/drawingml/2006/main" w="9525">
            <a:solidFill>
              <a:srgbClr val="68907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Датчики</a:t>
            </a:r>
          </a:p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и погода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14505-5B10-48A5-A024-29F30E71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90925"/>
            <a:ext cx="38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8E4D5-57A8-4324-BC53-A703923E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62325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6"/>
          </a:solidFill>
          <a:ln xmlns:a="http://schemas.openxmlformats.org/drawingml/2006/main" w="9525">
            <a:solidFill>
              <a:srgbClr val="68907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Прогноз</a:t>
            </a:r>
          </a:p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на сутки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2E8C9-6842-4DB8-949E-1120AC2F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90925"/>
            <a:ext cx="38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FFA94-6D48-46B1-BA91-9048E288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62325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6"/>
          </a:solidFill>
          <a:ln xmlns:a="http://schemas.openxmlformats.org/drawingml/2006/main" w="9525">
            <a:solidFill>
              <a:srgbClr val="68907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Решение</a:t>
            </a:r>
          </a:p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агронома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CDB08-C56D-4A74-86B3-BBD25299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90925"/>
            <a:ext cx="38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0726C-2B8D-4DD1-872C-7A566B14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62325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6"/>
          </a:solidFill>
          <a:ln xmlns:a="http://schemas.openxmlformats.org/drawingml/2006/main" w="9525">
            <a:solidFill>
              <a:srgbClr val="68907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Полив</a:t>
            </a:r>
          </a:p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и журнал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9A4CC-3742-4F40-A91B-BC1AD289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Пилот 8 га. После проверки: до 80 га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27088-445B-48BF-A69A-DFE4D59A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4C62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4C625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C6255"/>
                </a:solidFill>
                <a:latin typeface="Arial"/>
                <a:ea typeface="Arial"/>
                <a:cs typeface="Arial"/>
              </a:rPr>
              <a:t>Демонстратор использует искусственные данные.</a:t>
            </a:r>
          </a:p>
          <a:p xmlns:a="http://schemas.openxmlformats.org/drawingml/2006/main">
            <a:pPr>
              <a:defRPr sz="2400" b="0">
                <a:solidFill>
                  <a:srgbClr val="4C625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C6255"/>
                </a:solidFill>
                <a:latin typeface="Arial"/>
                <a:ea typeface="Arial"/>
                <a:cs typeface="Arial"/>
              </a:rPr>
              <a:t>Экономию и влияние на урожай проверим в поле.</a:t>
            </a:r>
          </a:p>
        </p:txBody>
      </p:sp>
    </p:spTree>
    <p:extLst>
      <p:ext uri="{BB962C8B-B14F-4D97-AF65-F5344CB8AC3E}">
        <p14:creationId xmlns:p14="http://schemas.microsoft.com/office/powerpoint/2010/main" val="8929071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2B8EA-D03B-4666-A144-E4CE6CFC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Экономика и контроль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64843-015D-4434-9EE8-694FBB02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19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1 413 800 руб.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19853-40D5-410F-B8C3-A24515EA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Начальные инвестиции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02E12-9DC7-4744-BB73-AA2C7929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5255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75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672 000 руб./сезон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38DB2-8400-407F-9392-DC6BE906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528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Чистый эффект после обслуживания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003CF-8770-4BF0-BCBC-3D6DF25A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4C62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4C625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C6255"/>
                </a:solidFill>
                <a:latin typeface="Arial"/>
                <a:ea typeface="Arial"/>
                <a:cs typeface="Arial"/>
              </a:rPr>
              <a:t>Сценарий: 80 га, экономия воды 20%, затраты 12 руб./м³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15D62-8049-42F5-8E01-629DA3B2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2,10 сезона эксплуатации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3E8F4-44E3-4557-853A-9C1EDD91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При сезонном учёте возврат в третьем сезоне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2221B-EEE4-4C15-B0A6-E6B25AEA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Если модель ошибётся?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18BA8-BDE4-4E43-866F-F6D3F909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Агроном подтверждает дозу. Есть пределы</a:t>
            </a:r>
          </a:p>
          <a:p xmlns:a="http://schemas.openxmlformats.org/drawingml/2006/main">
            <a: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и переход к расчётному или ручному режиму.</a:t>
            </a:r>
          </a:p>
        </p:txBody>
      </p:sp>
    </p:spTree>
    <p:extLst>
      <p:ext uri="{BB962C8B-B14F-4D97-AF65-F5344CB8AC3E}">
        <p14:creationId xmlns:p14="http://schemas.microsoft.com/office/powerpoint/2010/main" val="1338518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2026-10-09T06:52:30.8470000Z</dcterms:created>
  <dcterms:modified xsi:type="dcterms:W3CDTF">2026-10-09T06:52:30.8480000Z</dcterms:modified>
</coreProperties>
</file>