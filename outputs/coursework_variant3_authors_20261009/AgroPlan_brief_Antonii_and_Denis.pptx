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1fc096d81e4f6a" /><Relationship Type="http://schemas.openxmlformats.org/officeDocument/2006/relationships/extended-properties" Target="/docProps/app.xml" Id="Rb37c71a6f25641cd" /><Relationship Type="http://schemas.openxmlformats.org/officeDocument/2006/relationships/officeDocument" Target="/ppt/presentation.xml" Id="Ra1601bd063204a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d6d555686b4d50"/>
  </p:sldMasterIdLst>
  <p:notesMasterIdLst>
    <p:notesMasterId xmlns:r="http://schemas.openxmlformats.org/officeDocument/2006/relationships" r:id="R16da9a125acd4aaa"/>
  </p:notesMasterIdLst>
  <p:sldIdLst>
    <p:sldId xmlns:r="http://schemas.openxmlformats.org/officeDocument/2006/relationships" id="256" r:id="R171f3a6fa0354358"/>
    <p:sldId xmlns:r="http://schemas.openxmlformats.org/officeDocument/2006/relationships" id="257" r:id="R89f934dc43e845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b89cda08e0454f" /><Relationship Type="http://schemas.openxmlformats.org/officeDocument/2006/relationships/slideMaster" Target="/ppt/slideMasters/slideMaster1.xml" Id="R47d6d555686b4d50" /><Relationship Type="http://schemas.openxmlformats.org/officeDocument/2006/relationships/notesMaster" Target="/ppt/notesMasters/notesMaster1.xml" Id="R16da9a125acd4aaa" /><Relationship Type="http://schemas.openxmlformats.org/officeDocument/2006/relationships/presProps" Target="/ppt/presProps.xml" Id="R95fc6be6d55d4db7" /><Relationship Type="http://schemas.openxmlformats.org/officeDocument/2006/relationships/tableStyles" Target="/ppt/tableStyles.xml" Id="R24ab7307f45e4fcd" /><Relationship Type="http://schemas.openxmlformats.org/officeDocument/2006/relationships/slide" Target="/ppt/slides/slide1.xml" Id="R171f3a6fa0354358" /><Relationship Type="http://schemas.openxmlformats.org/officeDocument/2006/relationships/slide" Target="/ppt/slides/slide2.xml" Id="R89f934dc43e845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06cfff974f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f788079c584259" /><Relationship Type="http://schemas.openxmlformats.org/officeDocument/2006/relationships/notesMaster" Target="/ppt/notesMasters/notesMaster1.xml" Id="Re1a5c361a2b344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698847c8e94b29" /><Relationship Type="http://schemas.openxmlformats.org/officeDocument/2006/relationships/notesMaster" Target="/ppt/notesMasters/notesMaster1.xml" Id="Rfcc9b492a3444a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Вариант 3. Учебный заказчик «Овощное поле». 10% - целевой порог будущего пилота, не измеренный результат. Архитектура целевая: датчики пока не подключены. Источник агрономической постановки: https://www.fao.org/4/X0490E/x0490e0e.htm. Критерий урожая требует согласованного полевого протокола. Сарычев Антоний, ДЭ-39-26. Шестернин Денис.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цифры - учебные допущения, не фактический эффект. Объём 320000 м3/сезон, 20%=64000 м3, 12 руб./м3 дают 768000 руб., обслуживание 96000 руб., чистый эффект 672000 руб. Инвестиции: 908000 базовые работы +219800 резерв +286000 оборудование=1413800 руб. Окупаемость 2.103869 сезона эксплуатации. Первое полное расширение сценарно 2028, возврат в конце третьего сезона 2030. Задержка до пилота и масштабирования не переводится в месяцы окупаемости. Без НДС, кредита и дисконтирования. Расходы подачи воды включены в 12 руб./м3, электричество отдельно не прибавлено. Состав сметы: паспорт и задание 4. При 8 га только экономия воды не покрывает ежегодное обслуживание.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ff53076d345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db3b194b845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5c030cff849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a9a63287842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aa378ade048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f3c7868d44f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521AAA-CC78-49AB-9C1D-07EC3F39A7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B1D5EB-B4D4-48A9-AE37-015857D2F5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39EC95-7B66-48ED-8082-A1466FA99C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849CB8-2E3D-48E4-B377-6C9416D11C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8D44C3-F998-4A4B-9931-7CA2AD9B20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F6FFE0-FB0A-4E25-807B-E0411B19EA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191036-5C7F-4162-840F-5986FEE441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926548-8A09-45BD-AC37-C82228D1AF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9E1756-BD70-4F4E-B0FD-9441ACCA3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ECEFC6-67C2-4820-B781-F00522D099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58c6d698b34911" /><Relationship Type="http://schemas.openxmlformats.org/officeDocument/2006/relationships/slideLayout" Target="/ppt/slideLayouts/slideLayout1.xml" Id="Rb88516fb43d74c7a" /><Relationship Type="http://schemas.openxmlformats.org/officeDocument/2006/relationships/slideLayout" Target="/ppt/slideLayouts/slideLayout2.xml" Id="R929674a540fe4ef0" /><Relationship Type="http://schemas.openxmlformats.org/officeDocument/2006/relationships/slideLayout" Target="/ppt/slideLayouts/slideLayout3.xml" Id="R6694dcd3a9aa4742" /><Relationship Type="http://schemas.openxmlformats.org/officeDocument/2006/relationships/slideLayout" Target="/ppt/slideLayouts/slideLayout4.xml" Id="R0887242d36584afc" /><Relationship Type="http://schemas.openxmlformats.org/officeDocument/2006/relationships/slideLayout" Target="/ppt/slideLayouts/slideLayout5.xml" Id="Rda6a6dffc7d54f77" /><Relationship Type="http://schemas.openxmlformats.org/officeDocument/2006/relationships/slideLayout" Target="/ppt/slideLayouts/slideLayout6.xml" Id="Ra3c76b88139f49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8516fb43d74c7a"/>
    <p:sldLayoutId xmlns:r="http://schemas.openxmlformats.org/officeDocument/2006/relationships" id="2147483650" r:id="R929674a540fe4ef0"/>
    <p:sldLayoutId xmlns:r="http://schemas.openxmlformats.org/officeDocument/2006/relationships" id="2147483651" r:id="R6694dcd3a9aa4742"/>
    <p:sldLayoutId xmlns:r="http://schemas.openxmlformats.org/officeDocument/2006/relationships" id="2147483652" r:id="R0887242d36584afc"/>
    <p:sldLayoutId xmlns:r="http://schemas.openxmlformats.org/officeDocument/2006/relationships" id="2147483653" r:id="Rda6a6dffc7d54f77"/>
    <p:sldLayoutId xmlns:r="http://schemas.openxmlformats.org/officeDocument/2006/relationships" id="2147483654" r:id="Ra3c76b88139f49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6cc0c13b94cdc" /><Relationship Type="http://schemas.openxmlformats.org/officeDocument/2006/relationships/notesSlide" Target="/ppt/notesSlides/notesSlide1.xml" Id="R3f9c38d36ae143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597883f064283" /><Relationship Type="http://schemas.openxmlformats.org/officeDocument/2006/relationships/notesSlide" Target="/ppt/notesSlides/notesSlide2.xml" Id="Rdfc2e25d85954c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2D780-213D-497B-84F8-04B28E46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0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Полив томатов по данным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7879A-CE48-48EB-BD56-9ECCABCC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Календарь не учитывает фактическую почву и погоду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2899A-8E10-46D4-8C6A-7741A200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Цель пилота: от 10% экономии воды</a:t>
            </a:r>
          </a:p>
          <a:p xmlns:a="http://schemas.openxmlformats.org/drawingml/2006/main">
            <a:pPr>
              <a:defRPr sz="292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при соблюдении агрономических ограничений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080D2-BB02-4C10-95B5-C34EE0EC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Датчики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и погода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7C012-E4FE-4C1C-93A0-96D254E2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90925"/>
            <a:ext cx="38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59EAE-BA80-4484-952B-E5802F66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Прогноз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на сутки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1F5D4-ADA1-40F4-97C1-C8F2189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90925"/>
            <a:ext cx="38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CC9AA-41B7-447D-AE3A-24C86B87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Решение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агронома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F5BCB-AD9D-47E7-81B7-66DC8EE0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90925"/>
            <a:ext cx="38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ED777-BA39-4918-B6D7-E49CA703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Полив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и журнал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BF46A-5706-46AA-80D3-822227B6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Пилот 8 га. После проверки: до 80 га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48F13-1B0C-40EB-B292-03C05817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C6255"/>
                </a:solidFill>
                <a:latin typeface="Arial"/>
                <a:ea typeface="Arial"/>
                <a:cs typeface="Arial"/>
              </a:rPr>
              <a:t>Демонстратор использует искусственные данные.</a:t>
            </a:r>
          </a:p>
          <a:p xmlns:a="http://schemas.openxmlformats.org/drawingml/2006/main">
            <a: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C6255"/>
                </a:solidFill>
                <a:latin typeface="Arial"/>
                <a:ea typeface="Arial"/>
                <a:cs typeface="Arial"/>
              </a:rPr>
              <a:t>Экономию и влияние на урожай проверим в поле.</a:t>
            </a:r>
          </a:p>
        </p:txBody>
      </p:sp>
    </p:spTree>
    <p:extLst>
      <p:ext uri="{BB962C8B-B14F-4D97-AF65-F5344CB8AC3E}">
        <p14:creationId xmlns:p14="http://schemas.microsoft.com/office/powerpoint/2010/main" val="1090810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9E1DD-2550-47EA-8FD1-C7148841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Экономика и контроль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0AAB0-0D90-47F2-B34D-4CB28384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1 413 800 руб.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08A28-EA73-4A72-8502-14850EAE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Начальные инвестиции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AEED9-017E-448C-9FC8-8F1433CC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672 000 руб./сезон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E2170-851B-4CAE-AD60-CE8237AA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528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Чистый эффект после обслуживания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69C20-92E0-4FEE-89CF-7D3935D7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C6255"/>
                </a:solidFill>
                <a:latin typeface="Arial"/>
                <a:ea typeface="Arial"/>
                <a:cs typeface="Arial"/>
              </a:rPr>
              <a:t>Сценарий: 80 га, экономия воды 20%, затраты 12 руб./м³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FD2A5-C119-4267-9B6A-A9835B11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2,10 сезона эксплуатации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9438C-9493-463F-A0E5-EF79FB05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При сезонном учёте возврат в третьем сезоне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23E69-F767-43F5-B1A8-BB02B939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Если модель ошибётся?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EDA03-5146-4298-88DD-AF93551F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Агроном подтверждает дозу. Есть пределы</a:t>
            </a:r>
          </a:p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и переход к расчётному или ручному режиму.</a:t>
            </a:r>
          </a:p>
        </p:txBody>
      </p:sp>
    </p:spTree>
    <p:extLst>
      <p:ext uri="{BB962C8B-B14F-4D97-AF65-F5344CB8AC3E}">
        <p14:creationId xmlns:p14="http://schemas.microsoft.com/office/powerpoint/2010/main" val="150184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2026-10-09T06:52:24.5140000Z</dcterms:created>
  <dcterms:modified xsi:type="dcterms:W3CDTF">2026-10-09T06:52:24.5140000Z</dcterms:modified>
</coreProperties>
</file>