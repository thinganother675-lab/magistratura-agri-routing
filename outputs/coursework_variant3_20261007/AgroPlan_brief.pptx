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d226fa6434305" /><Relationship Type="http://schemas.openxmlformats.org/officeDocument/2006/relationships/extended-properties" Target="/docProps/app.xml" Id="R3e1cf1d9a6af4ddc" /><Relationship Type="http://schemas.openxmlformats.org/officeDocument/2006/relationships/officeDocument" Target="/ppt/presentation.xml" Id="R23be2ed8506d4c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d25cc2b0a4dbf"/>
  </p:sldMasterIdLst>
  <p:notesMasterIdLst>
    <p:notesMasterId xmlns:r="http://schemas.openxmlformats.org/officeDocument/2006/relationships" r:id="R1a6a55efd3304811"/>
  </p:notesMasterIdLst>
  <p:sldIdLst>
    <p:sldId xmlns:r="http://schemas.openxmlformats.org/officeDocument/2006/relationships" id="256" r:id="R8b0b45226ce0414a"/>
    <p:sldId xmlns:r="http://schemas.openxmlformats.org/officeDocument/2006/relationships" id="257" r:id="Rfef0ad0f0fde4b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dac1c30684a75" /><Relationship Type="http://schemas.openxmlformats.org/officeDocument/2006/relationships/slideMaster" Target="/ppt/slideMasters/slideMaster1.xml" Id="Rdebd25cc2b0a4dbf" /><Relationship Type="http://schemas.openxmlformats.org/officeDocument/2006/relationships/notesMaster" Target="/ppt/notesMasters/notesMaster1.xml" Id="R1a6a55efd3304811" /><Relationship Type="http://schemas.openxmlformats.org/officeDocument/2006/relationships/presProps" Target="/ppt/presProps.xml" Id="R35d6b8097d2e4922" /><Relationship Type="http://schemas.openxmlformats.org/officeDocument/2006/relationships/tableStyles" Target="/ppt/tableStyles.xml" Id="R1f803183c8e347f8" /><Relationship Type="http://schemas.openxmlformats.org/officeDocument/2006/relationships/slide" Target="/ppt/slides/slide1.xml" Id="R8b0b45226ce0414a" /><Relationship Type="http://schemas.openxmlformats.org/officeDocument/2006/relationships/slide" Target="/ppt/slides/slide2.xml" Id="Rfef0ad0f0fde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5209581cf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ebb76d008d468e" /><Relationship Type="http://schemas.openxmlformats.org/officeDocument/2006/relationships/notesMaster" Target="/ppt/notesMasters/notesMaster1.xml" Id="R47759ca16e54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af8f043bf84e5f" /><Relationship Type="http://schemas.openxmlformats.org/officeDocument/2006/relationships/notesMaster" Target="/ppt/notesMasters/notesMaster1.xml" Id="R8bc669dd12ce46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Вариант 3. Учебный заказчик «Овощное поле». 10% - целевой порог будущего пилота, не измеренный результат. Архитектура целевая: датчики пока не подключены. Источник агрономической постановки: https://www.fao.org/4/X0490E/x0490e0e.htm. Критерий урожая требует согласованного полевого протокола. Сарычев Антоний, ДЭ-39-26.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цифры - учебные допущения, не фактический эффект. Объём 320000 м3/сезон, 20%=64000 м3, 12 руб./м3 дают 768000 руб., обслуживание 96000 руб., чистый эффект 672000 руб. Инвестиции: 908000 базовые работы +219800 резерв +286000 оборудование=1413800 руб. Окупаемость 2.103869 сезона эксплуатации. Первое полное расширение сценарно 2028, возврат в конце третьего сезона 2030. Задержка до пилота и масштабирования не переводится в месяцы окупаемости. Без НДС, кредита и дисконтирования. Расходы подачи воды включены в 12 руб./м3, электричество отдельно не прибавлено. Состав сметы: паспорт и задание 4. При 8 га только экономия воды не покрывает ежегодное обслуживание.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656778b174b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ae9e1b7794f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db9dced7a43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e09062aea46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3868f8bb049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73d732410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B52E03-3D73-4B86-B7D1-41DFC01CD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DAE6CB-5210-4415-BA39-4638F1CCD6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4AF04C-D043-4F16-AC68-B885DF9ED9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78C58F-8812-401D-923E-FEE9644E9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34174F-FC00-421F-AFB4-763EAE152D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5E07FA-3777-438B-8277-C6C79DF97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9667F7-931D-44C1-B3A6-A0494422E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9306A5-963D-4575-B3C6-CEFAE4D2F8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FA683-A929-41D3-B9EB-5EE26977C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26C3F9-15FD-41A0-9C36-99D81DD312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17f383effb4c6e" /><Relationship Type="http://schemas.openxmlformats.org/officeDocument/2006/relationships/slideLayout" Target="/ppt/slideLayouts/slideLayout1.xml" Id="Rc7b8e59e9dc6436f" /><Relationship Type="http://schemas.openxmlformats.org/officeDocument/2006/relationships/slideLayout" Target="/ppt/slideLayouts/slideLayout2.xml" Id="R4535336ddf3d4efa" /><Relationship Type="http://schemas.openxmlformats.org/officeDocument/2006/relationships/slideLayout" Target="/ppt/slideLayouts/slideLayout3.xml" Id="Rdf38cb8410e74437" /><Relationship Type="http://schemas.openxmlformats.org/officeDocument/2006/relationships/slideLayout" Target="/ppt/slideLayouts/slideLayout4.xml" Id="R51a0f9eb44364f43" /><Relationship Type="http://schemas.openxmlformats.org/officeDocument/2006/relationships/slideLayout" Target="/ppt/slideLayouts/slideLayout5.xml" Id="Rbb88cda8eef742af" /><Relationship Type="http://schemas.openxmlformats.org/officeDocument/2006/relationships/slideLayout" Target="/ppt/slideLayouts/slideLayout6.xml" Id="R08210ce7e3dd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8e59e9dc6436f"/>
    <p:sldLayoutId xmlns:r="http://schemas.openxmlformats.org/officeDocument/2006/relationships" id="2147483650" r:id="R4535336ddf3d4efa"/>
    <p:sldLayoutId xmlns:r="http://schemas.openxmlformats.org/officeDocument/2006/relationships" id="2147483651" r:id="Rdf38cb8410e74437"/>
    <p:sldLayoutId xmlns:r="http://schemas.openxmlformats.org/officeDocument/2006/relationships" id="2147483652" r:id="R51a0f9eb44364f43"/>
    <p:sldLayoutId xmlns:r="http://schemas.openxmlformats.org/officeDocument/2006/relationships" id="2147483653" r:id="Rbb88cda8eef742af"/>
    <p:sldLayoutId xmlns:r="http://schemas.openxmlformats.org/officeDocument/2006/relationships" id="2147483654" r:id="R08210ce7e3dd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a2a5e1768499a" /><Relationship Type="http://schemas.openxmlformats.org/officeDocument/2006/relationships/notesSlide" Target="/ppt/notesSlides/notesSlide1.xml" Id="Rbc87877ffae9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285e8ed544330" /><Relationship Type="http://schemas.openxmlformats.org/officeDocument/2006/relationships/notesSlide" Target="/ppt/notesSlides/notesSlide2.xml" Id="R98fc49b6c29148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9C55D-8E5D-48A2-B713-10C23B38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 томатов по данным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B8427-FB56-4193-A56F-546B0EFE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Календарь не учитывает фактическую почву и погоду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54328-AAAC-4B83-892A-EC2794ED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Цель пилота: от 10% экономии воды</a:t>
            </a:r>
          </a:p>
          <a:p xmlns:a="http://schemas.openxmlformats.org/drawingml/2006/main">
            <a:pPr>
              <a:defRPr sz="292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соблюдении агрономических ограничений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B4CD8-5DF0-4778-8DAD-E5D598C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Датчики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погода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1459C-F2D8-4D16-B69A-184992B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A2362-9F9C-4566-A76B-29254EA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Прогноз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 сутки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395B-6403-4AA1-ACDB-BCD6515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A34BE-9FC3-4DEC-9379-CE0DB1AB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Решение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0B355-2CF3-48F6-BFC0-EA092CD5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90925"/>
            <a:ext cx="38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D5FDD-09C8-49AB-A015-380BECE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E6"/>
          </a:solidFill>
          <a:ln xmlns:a="http://schemas.openxmlformats.org/drawingml/2006/main" w="9525">
            <a:solidFill>
              <a:srgbClr val="68907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Полив</a:t>
            </a:r>
          </a:p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журнал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114B-0FA8-40CE-8057-81E40496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Пилот 8 га. После проверки: до 80 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D6C08-70C3-4B9F-AC0F-F569E36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Демонстратор использует искусственные данные.</a:t>
            </a:r>
          </a:p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Экономию и влияние на урожай проверим в поле.</a:t>
            </a:r>
          </a:p>
        </p:txBody>
      </p:sp>
    </p:spTree>
    <p:extLst>
      <p:ext uri="{BB962C8B-B14F-4D97-AF65-F5344CB8AC3E}">
        <p14:creationId xmlns:p14="http://schemas.microsoft.com/office/powerpoint/2010/main" val="1358197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16CFB-F5C8-4EAA-889C-101FCAF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Экономика и контроль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85415-8DBE-47E8-8CCE-0F497659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1 413 800 руб.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DB021-EFC5-4111-8797-FB6629D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Начальные инвестиции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E8EE9-0F7B-44CA-ABEB-F5D0132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672 000 руб./сезон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5EFEA-30A5-4989-83CF-EA155D2D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Чистый эффект после обслуживания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67B9A-A4BB-4F12-8AA4-CB29FEE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4C62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C6255"/>
                </a:solidFill>
                <a:latin typeface="Arial"/>
                <a:ea typeface="Arial"/>
                <a:cs typeface="Arial"/>
              </a:rPr>
              <a:t>Сценарий: 80 га, экономия воды 20%, затраты 12 руб./м³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1C256-D0AC-4FC7-8016-62B9F94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2,10 сезона эксплуатации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17303-E0F6-4D40-AE0F-74BD948F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При сезонном учёте возврат в третьем сезоне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AF664-D782-43BE-944D-C4A6A1F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493A"/>
                </a:solidFill>
                <a:latin typeface="Arial"/>
                <a:ea typeface="Arial"/>
                <a:cs typeface="Arial"/>
              </a:rPr>
              <a:t>Если модель ошибётся?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FB496-99BC-46A7-B3AE-C66523A0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Агроном подтверждает дозу. Есть пределы</a:t>
            </a:r>
          </a:p>
          <a:p xmlns:a="http://schemas.openxmlformats.org/drawingml/2006/main">
            <a:pPr>
              <a:defRPr sz="2400" b="0">
                <a:solidFill>
                  <a:srgbClr val="1D49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493A"/>
                </a:solidFill>
                <a:latin typeface="Arial"/>
                <a:ea typeface="Arial"/>
                <a:cs typeface="Arial"/>
              </a:rPr>
              <a:t>и переход к расчётному или ручному режиму.</a:t>
            </a:r>
          </a:p>
        </p:txBody>
      </p:sp>
    </p:spTree>
    <p:extLst>
      <p:ext uri="{BB962C8B-B14F-4D97-AF65-F5344CB8AC3E}">
        <p14:creationId xmlns:p14="http://schemas.microsoft.com/office/powerpoint/2010/main" val="307651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2026-10-08T10:17:44.2610000Z</dcterms:created>
  <dcterms:modified xsi:type="dcterms:W3CDTF">2026-10-08T10:17:44.2610000Z</dcterms:modified>
</coreProperties>
</file>