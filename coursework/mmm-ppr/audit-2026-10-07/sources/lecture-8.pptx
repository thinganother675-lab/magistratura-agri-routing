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84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1" r:id="rId9"/>
    <p:sldId id="265" r:id="rId10"/>
    <p:sldId id="260" r:id="rId11"/>
    <p:sldId id="266" r:id="rId12"/>
    <p:sldId id="270" r:id="rId13"/>
    <p:sldId id="271" r:id="rId14"/>
    <p:sldId id="269" r:id="rId15"/>
    <p:sldId id="267" r:id="rId16"/>
    <p:sldId id="272" r:id="rId17"/>
    <p:sldId id="268" r:id="rId18"/>
  </p:sldIdLst>
  <p:sldSz cx="9144000" cy="6858000" type="screen4x3"/>
  <p:notesSz cx="7086600" cy="102235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Tahoma" panose="020B0604030504040204" pitchFamily="34" charset="0"/>
      <p:regular r:id="rId25"/>
      <p:bold r:id="rId26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7F0000"/>
    <a:srgbClr val="FFFF00"/>
    <a:srgbClr val="FF0000"/>
    <a:srgbClr val="DCDC00"/>
    <a:srgbClr val="FFAAAA"/>
    <a:srgbClr val="00FF00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1" autoAdjust="0"/>
    <p:restoredTop sz="86385" autoAdjust="0"/>
  </p:normalViewPr>
  <p:slideViewPr>
    <p:cSldViewPr snapToGrid="0">
      <p:cViewPr varScale="1">
        <p:scale>
          <a:sx n="78" d="100"/>
          <a:sy n="78" d="100"/>
        </p:scale>
        <p:origin x="-108" y="-666"/>
      </p:cViewPr>
      <p:guideLst>
        <p:guide orient="horz" pos="2208"/>
        <p:guide pos="2880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-1818" y="-78"/>
      </p:cViewPr>
      <p:guideLst>
        <p:guide orient="horz" pos="3220"/>
        <p:guide pos="223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660996-EC2D-4807-B76E-9A572BEEFB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29D47A33-0434-4A57-A117-82E4CF5E6E98}">
      <dgm:prSet/>
      <dgm:spPr/>
      <dgm:t>
        <a:bodyPr/>
        <a:lstStyle/>
        <a:p>
          <a:pPr rtl="0"/>
          <a:r>
            <a:rPr lang="ru-RU" b="1" i="1" dirty="0"/>
            <a:t>Градиент функции в данной точке</a:t>
          </a:r>
          <a:r>
            <a:rPr lang="ru-RU" dirty="0"/>
            <a:t> – вектор, составленный из её частных производных по всем переменным в данной точке</a:t>
          </a:r>
        </a:p>
      </dgm:t>
    </dgm:pt>
    <dgm:pt modelId="{1095CD33-223A-4B94-9152-0E2387810CA5}" type="parTrans" cxnId="{2C13D1F7-2FD1-45DE-87C9-3D5DA2D47C8F}">
      <dgm:prSet/>
      <dgm:spPr/>
      <dgm:t>
        <a:bodyPr/>
        <a:lstStyle/>
        <a:p>
          <a:endParaRPr lang="ru-RU"/>
        </a:p>
      </dgm:t>
    </dgm:pt>
    <dgm:pt modelId="{F4E8BB7F-9C4C-47AB-8597-B952EBA09572}" type="sibTrans" cxnId="{2C13D1F7-2FD1-45DE-87C9-3D5DA2D47C8F}">
      <dgm:prSet/>
      <dgm:spPr/>
      <dgm:t>
        <a:bodyPr/>
        <a:lstStyle/>
        <a:p>
          <a:endParaRPr lang="ru-RU"/>
        </a:p>
      </dgm:t>
    </dgm:pt>
    <dgm:pt modelId="{8878AD5D-E349-455D-9404-E988DCAA5ACC}">
      <dgm:prSet/>
      <dgm:spPr/>
      <dgm:t>
        <a:bodyPr/>
        <a:lstStyle/>
        <a:p>
          <a:pPr rtl="0"/>
          <a:r>
            <a:rPr lang="ru-RU" dirty="0"/>
            <a:t>Направление градиента указывает направление, в котором функция растёт быстрее всего, а его </a:t>
          </a:r>
          <a:r>
            <a:rPr lang="ru-RU" i="1" dirty="0"/>
            <a:t>модуль</a:t>
          </a:r>
          <a:r>
            <a:rPr lang="ru-RU" dirty="0"/>
            <a:t> (длина, евклидова норма) характеризует скорость роста</a:t>
          </a:r>
        </a:p>
      </dgm:t>
    </dgm:pt>
    <dgm:pt modelId="{7D3C80D2-68BE-48DE-998D-BC2522CB6D5A}" type="parTrans" cxnId="{D1F52DFB-142C-4DAF-B858-6138748FE13D}">
      <dgm:prSet/>
      <dgm:spPr/>
      <dgm:t>
        <a:bodyPr/>
        <a:lstStyle/>
        <a:p>
          <a:endParaRPr lang="ru-RU"/>
        </a:p>
      </dgm:t>
    </dgm:pt>
    <dgm:pt modelId="{66441FDB-D9BA-4711-92BB-8108B89B00E0}" type="sibTrans" cxnId="{D1F52DFB-142C-4DAF-B858-6138748FE13D}">
      <dgm:prSet/>
      <dgm:spPr/>
      <dgm:t>
        <a:bodyPr/>
        <a:lstStyle/>
        <a:p>
          <a:endParaRPr lang="ru-RU"/>
        </a:p>
      </dgm:t>
    </dgm:pt>
    <dgm:pt modelId="{ABEB66E8-3F2B-4967-B4FC-8F2B78A4DBC8}" type="pres">
      <dgm:prSet presAssocID="{3E660996-EC2D-4807-B76E-9A572BEEFBFC}" presName="linear" presStyleCnt="0">
        <dgm:presLayoutVars>
          <dgm:animLvl val="lvl"/>
          <dgm:resizeHandles val="exact"/>
        </dgm:presLayoutVars>
      </dgm:prSet>
      <dgm:spPr/>
    </dgm:pt>
    <dgm:pt modelId="{F6CBAA85-F370-4F60-A189-23B4AC0BF4A4}" type="pres">
      <dgm:prSet presAssocID="{29D47A33-0434-4A57-A117-82E4CF5E6E9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7ECDF10-24D6-4611-BFC5-1244BC288048}" type="pres">
      <dgm:prSet presAssocID="{29D47A33-0434-4A57-A117-82E4CF5E6E9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5ED5500-C7FD-45C0-95A4-EDF004446149}" type="presOf" srcId="{29D47A33-0434-4A57-A117-82E4CF5E6E98}" destId="{F6CBAA85-F370-4F60-A189-23B4AC0BF4A4}" srcOrd="0" destOrd="0" presId="urn:microsoft.com/office/officeart/2005/8/layout/vList2"/>
    <dgm:cxn modelId="{1AFF733F-944A-413E-B18C-223021DC4571}" type="presOf" srcId="{8878AD5D-E349-455D-9404-E988DCAA5ACC}" destId="{67ECDF10-24D6-4611-BFC5-1244BC288048}" srcOrd="0" destOrd="0" presId="urn:microsoft.com/office/officeart/2005/8/layout/vList2"/>
    <dgm:cxn modelId="{8834B93F-85A5-4476-84A1-F1B0E7A13755}" type="presOf" srcId="{3E660996-EC2D-4807-B76E-9A572BEEFBFC}" destId="{ABEB66E8-3F2B-4967-B4FC-8F2B78A4DBC8}" srcOrd="0" destOrd="0" presId="urn:microsoft.com/office/officeart/2005/8/layout/vList2"/>
    <dgm:cxn modelId="{2C13D1F7-2FD1-45DE-87C9-3D5DA2D47C8F}" srcId="{3E660996-EC2D-4807-B76E-9A572BEEFBFC}" destId="{29D47A33-0434-4A57-A117-82E4CF5E6E98}" srcOrd="0" destOrd="0" parTransId="{1095CD33-223A-4B94-9152-0E2387810CA5}" sibTransId="{F4E8BB7F-9C4C-47AB-8597-B952EBA09572}"/>
    <dgm:cxn modelId="{D1F52DFB-142C-4DAF-B858-6138748FE13D}" srcId="{29D47A33-0434-4A57-A117-82E4CF5E6E98}" destId="{8878AD5D-E349-455D-9404-E988DCAA5ACC}" srcOrd="0" destOrd="0" parTransId="{7D3C80D2-68BE-48DE-998D-BC2522CB6D5A}" sibTransId="{66441FDB-D9BA-4711-92BB-8108B89B00E0}"/>
    <dgm:cxn modelId="{04F086D3-3EA6-4AF0-A634-E173B8D6256A}" type="presParOf" srcId="{ABEB66E8-3F2B-4967-B4FC-8F2B78A4DBC8}" destId="{F6CBAA85-F370-4F60-A189-23B4AC0BF4A4}" srcOrd="0" destOrd="0" presId="urn:microsoft.com/office/officeart/2005/8/layout/vList2"/>
    <dgm:cxn modelId="{C23F7A97-2AFE-4076-9A9C-339825BF923A}" type="presParOf" srcId="{ABEB66E8-3F2B-4967-B4FC-8F2B78A4DBC8}" destId="{67ECDF10-24D6-4611-BFC5-1244BC28804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53F8A7-9DAE-41E0-B941-EAF3EFD15A36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9777DB4-1D08-4A77-B09F-895DE6323823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MS Excel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B97CE2A-0EE8-40BB-8E96-5BDA5704A642}" type="parTrans" cxnId="{F3FA2962-E195-4D7B-B13F-20D061AC50FD}">
      <dgm:prSet/>
      <dgm:spPr/>
      <dgm:t>
        <a:bodyPr/>
        <a:lstStyle/>
        <a:p>
          <a:endParaRPr lang="ru-RU"/>
        </a:p>
      </dgm:t>
    </dgm:pt>
    <dgm:pt modelId="{7231E40B-BFB5-433D-8D65-686943C0D9BC}" type="sibTrans" cxnId="{F3FA2962-E195-4D7B-B13F-20D061AC50FD}">
      <dgm:prSet/>
      <dgm:spPr/>
      <dgm:t>
        <a:bodyPr/>
        <a:lstStyle/>
        <a:p>
          <a:endParaRPr lang="ru-RU"/>
        </a:p>
      </dgm:t>
    </dgm:pt>
    <dgm:pt modelId="{79CC780B-BE82-4E57-894D-FEE8ED4CA7EC}">
      <dgm:prSet custT="1"/>
      <dgm:spPr/>
      <dgm:t>
        <a:bodyPr/>
        <a:lstStyle/>
        <a:p>
          <a:pPr rtl="0"/>
          <a:r>
            <a:rPr lang="ru-RU" sz="1800" dirty="0" err="1"/>
            <a:t>квази-Ньютоновский</a:t>
          </a:r>
          <a:endParaRPr lang="ru-RU" sz="1800" dirty="0"/>
        </a:p>
      </dgm:t>
    </dgm:pt>
    <dgm:pt modelId="{242CFCBC-393D-4FC5-991D-1ADD2E4E6B6B}" type="parTrans" cxnId="{2291C78A-7AA9-4FF6-825B-8A9A2DBC481B}">
      <dgm:prSet/>
      <dgm:spPr/>
      <dgm:t>
        <a:bodyPr/>
        <a:lstStyle/>
        <a:p>
          <a:endParaRPr lang="ru-RU"/>
        </a:p>
      </dgm:t>
    </dgm:pt>
    <dgm:pt modelId="{97ACA4C0-91A1-44A2-8EFB-D9F430B75584}" type="sibTrans" cxnId="{2291C78A-7AA9-4FF6-825B-8A9A2DBC481B}">
      <dgm:prSet/>
      <dgm:spPr/>
      <dgm:t>
        <a:bodyPr/>
        <a:lstStyle/>
        <a:p>
          <a:endParaRPr lang="ru-RU"/>
        </a:p>
      </dgm:t>
    </dgm:pt>
    <dgm:pt modelId="{3C5B47B5-A4C0-41E7-9A86-9B533AF129B4}">
      <dgm:prSet custT="1"/>
      <dgm:spPr/>
      <dgm:t>
        <a:bodyPr/>
        <a:lstStyle/>
        <a:p>
          <a:pPr rtl="0"/>
          <a:r>
            <a:rPr lang="ru-RU" sz="1800" dirty="0"/>
            <a:t>метод сопряжённых градиентов</a:t>
          </a:r>
        </a:p>
      </dgm:t>
    </dgm:pt>
    <dgm:pt modelId="{9D1B637E-63AF-4F5C-9B85-E099D3BA90E4}" type="parTrans" cxnId="{0B6E59A0-66E6-40B7-B8B3-057E338B03CD}">
      <dgm:prSet/>
      <dgm:spPr/>
      <dgm:t>
        <a:bodyPr/>
        <a:lstStyle/>
        <a:p>
          <a:endParaRPr lang="ru-RU"/>
        </a:p>
      </dgm:t>
    </dgm:pt>
    <dgm:pt modelId="{877D9A8E-13A9-4237-B587-D665B0D15E95}" type="sibTrans" cxnId="{0B6E59A0-66E6-40B7-B8B3-057E338B03CD}">
      <dgm:prSet/>
      <dgm:spPr/>
      <dgm:t>
        <a:bodyPr/>
        <a:lstStyle/>
        <a:p>
          <a:endParaRPr lang="ru-RU"/>
        </a:p>
      </dgm:t>
    </dgm:pt>
    <dgm:pt modelId="{4D74D155-BBC1-421D-BC5F-9B16D1DBA346}">
      <dgm:prSet/>
      <dgm:spPr/>
      <dgm:t>
        <a:bodyPr/>
        <a:lstStyle/>
        <a:p>
          <a:pPr rtl="0"/>
          <a:r>
            <a:rPr lang="en-US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MathCad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9D04586-D835-4B94-B82B-80031C3548F8}" type="parTrans" cxnId="{B58FC97B-A5F5-4B9D-A0EE-3CB9A19A1399}">
      <dgm:prSet/>
      <dgm:spPr/>
      <dgm:t>
        <a:bodyPr/>
        <a:lstStyle/>
        <a:p>
          <a:endParaRPr lang="ru-RU"/>
        </a:p>
      </dgm:t>
    </dgm:pt>
    <dgm:pt modelId="{3D1E6AA8-14B2-4BA2-B4B4-F36BBB178ABE}" type="sibTrans" cxnId="{B58FC97B-A5F5-4B9D-A0EE-3CB9A19A1399}">
      <dgm:prSet/>
      <dgm:spPr/>
      <dgm:t>
        <a:bodyPr/>
        <a:lstStyle/>
        <a:p>
          <a:endParaRPr lang="ru-RU"/>
        </a:p>
      </dgm:t>
    </dgm:pt>
    <dgm:pt modelId="{2270E52B-FC8E-49AA-B9A3-9FDE213E8156}">
      <dgm:prSet custT="1"/>
      <dgm:spPr/>
      <dgm:t>
        <a:bodyPr/>
        <a:lstStyle/>
        <a:p>
          <a:pPr rtl="0"/>
          <a:r>
            <a:rPr lang="ru-RU" sz="2000" dirty="0" err="1"/>
            <a:t>квази-Ньютоновский</a:t>
          </a:r>
          <a:endParaRPr lang="ru-RU" sz="2000" dirty="0"/>
        </a:p>
      </dgm:t>
    </dgm:pt>
    <dgm:pt modelId="{F0BF963D-7F07-46D1-B872-25CEF42E4EF8}" type="parTrans" cxnId="{0D5A2133-C73E-49CE-BB10-7A1CC08C1392}">
      <dgm:prSet/>
      <dgm:spPr/>
      <dgm:t>
        <a:bodyPr/>
        <a:lstStyle/>
        <a:p>
          <a:endParaRPr lang="ru-RU"/>
        </a:p>
      </dgm:t>
    </dgm:pt>
    <dgm:pt modelId="{71E1CB5A-4193-4725-9E28-721628F0F156}" type="sibTrans" cxnId="{0D5A2133-C73E-49CE-BB10-7A1CC08C1392}">
      <dgm:prSet/>
      <dgm:spPr/>
      <dgm:t>
        <a:bodyPr/>
        <a:lstStyle/>
        <a:p>
          <a:endParaRPr lang="ru-RU"/>
        </a:p>
      </dgm:t>
    </dgm:pt>
    <dgm:pt modelId="{10DF7FA7-B935-4CF6-B38D-E626989CD5CD}">
      <dgm:prSet custT="1"/>
      <dgm:spPr/>
      <dgm:t>
        <a:bodyPr/>
        <a:lstStyle/>
        <a:p>
          <a:pPr rtl="0"/>
          <a:r>
            <a:rPr lang="ru-RU" sz="2000" dirty="0"/>
            <a:t>метод сопряжённых градиентов</a:t>
          </a:r>
        </a:p>
      </dgm:t>
    </dgm:pt>
    <dgm:pt modelId="{96762382-3FDE-44EE-BA7C-15DE761CDA48}" type="parTrans" cxnId="{FC7307B3-D8A3-43B4-B917-E6F0A8E16BB5}">
      <dgm:prSet/>
      <dgm:spPr/>
      <dgm:t>
        <a:bodyPr/>
        <a:lstStyle/>
        <a:p>
          <a:endParaRPr lang="ru-RU"/>
        </a:p>
      </dgm:t>
    </dgm:pt>
    <dgm:pt modelId="{6C4BAF5D-2ADB-4526-9C3F-C3C551A9D188}" type="sibTrans" cxnId="{FC7307B3-D8A3-43B4-B917-E6F0A8E16BB5}">
      <dgm:prSet/>
      <dgm:spPr/>
      <dgm:t>
        <a:bodyPr/>
        <a:lstStyle/>
        <a:p>
          <a:endParaRPr lang="ru-RU"/>
        </a:p>
      </dgm:t>
    </dgm:pt>
    <dgm:pt modelId="{4FE015E6-3477-4348-A5B0-040B77BDBC88}">
      <dgm:prSet custT="1"/>
      <dgm:spPr/>
      <dgm:t>
        <a:bodyPr/>
        <a:lstStyle/>
        <a:p>
          <a:pPr rtl="0"/>
          <a:r>
            <a:rPr lang="ru-RU" sz="2000" dirty="0"/>
            <a:t>метод </a:t>
          </a:r>
          <a:r>
            <a:rPr lang="ru-RU" sz="2000" dirty="0" err="1"/>
            <a:t>Левенберга-Марквардта</a:t>
          </a:r>
          <a:endParaRPr lang="ru-RU" sz="2000" dirty="0"/>
        </a:p>
      </dgm:t>
    </dgm:pt>
    <dgm:pt modelId="{A750A9D9-007C-459B-AE3D-C591325B47BE}" type="parTrans" cxnId="{923E4D15-B1E1-44A6-B069-32A6D73BB312}">
      <dgm:prSet/>
      <dgm:spPr/>
      <dgm:t>
        <a:bodyPr/>
        <a:lstStyle/>
        <a:p>
          <a:endParaRPr lang="ru-RU"/>
        </a:p>
      </dgm:t>
    </dgm:pt>
    <dgm:pt modelId="{22826774-3899-4C0D-B11A-ACB907F368D8}" type="sibTrans" cxnId="{923E4D15-B1E1-44A6-B069-32A6D73BB312}">
      <dgm:prSet/>
      <dgm:spPr/>
      <dgm:t>
        <a:bodyPr/>
        <a:lstStyle/>
        <a:p>
          <a:endParaRPr lang="ru-RU"/>
        </a:p>
      </dgm:t>
    </dgm:pt>
    <dgm:pt modelId="{E45810CA-292A-430F-AF65-A0D74BDF6021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GAMS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3BBFEED-FCC7-4660-96A0-CD459F9D4D53}" type="parTrans" cxnId="{C0E92784-B997-4A9C-A803-883B5BC4314B}">
      <dgm:prSet/>
      <dgm:spPr/>
      <dgm:t>
        <a:bodyPr/>
        <a:lstStyle/>
        <a:p>
          <a:endParaRPr lang="ru-RU"/>
        </a:p>
      </dgm:t>
    </dgm:pt>
    <dgm:pt modelId="{16064B8F-32D0-4FB3-8721-8FF06B3F9E18}" type="sibTrans" cxnId="{C0E92784-B997-4A9C-A803-883B5BC4314B}">
      <dgm:prSet/>
      <dgm:spPr/>
      <dgm:t>
        <a:bodyPr/>
        <a:lstStyle/>
        <a:p>
          <a:endParaRPr lang="ru-RU"/>
        </a:p>
      </dgm:t>
    </dgm:pt>
    <dgm:pt modelId="{765740BF-FC7D-4C68-96CB-ABED8208483D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SNOPT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7F2630C-535E-43DF-BE73-0F10831BA5E8}" type="parTrans" cxnId="{F43B2948-38AA-4C63-8C09-A1E9196C6167}">
      <dgm:prSet/>
      <dgm:spPr/>
      <dgm:t>
        <a:bodyPr/>
        <a:lstStyle/>
        <a:p>
          <a:endParaRPr lang="ru-RU"/>
        </a:p>
      </dgm:t>
    </dgm:pt>
    <dgm:pt modelId="{E2E7B46A-6153-4F31-A864-26994A1E9BB8}" type="sibTrans" cxnId="{F43B2948-38AA-4C63-8C09-A1E9196C6167}">
      <dgm:prSet/>
      <dgm:spPr/>
      <dgm:t>
        <a:bodyPr/>
        <a:lstStyle/>
        <a:p>
          <a:endParaRPr lang="ru-RU"/>
        </a:p>
      </dgm:t>
    </dgm:pt>
    <dgm:pt modelId="{A9F66A35-FB32-4589-A55D-E87D287863C1}">
      <dgm:prSet/>
      <dgm:spPr/>
      <dgm:t>
        <a:bodyPr/>
        <a:lstStyle/>
        <a:p>
          <a:pPr rtl="0"/>
          <a:r>
            <a: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</a:t>
          </a:r>
        </a:p>
      </dgm:t>
    </dgm:pt>
    <dgm:pt modelId="{933AF66E-68B5-44A2-A2AE-D1183E142509}" type="parTrans" cxnId="{545B21A9-A620-42FE-A5D1-F80FEBDD3132}">
      <dgm:prSet/>
      <dgm:spPr/>
      <dgm:t>
        <a:bodyPr/>
        <a:lstStyle/>
        <a:p>
          <a:endParaRPr lang="ru-RU"/>
        </a:p>
      </dgm:t>
    </dgm:pt>
    <dgm:pt modelId="{39A6C1EA-F411-440F-8B7B-DACDAF4D5618}" type="sibTrans" cxnId="{545B21A9-A620-42FE-A5D1-F80FEBDD3132}">
      <dgm:prSet/>
      <dgm:spPr/>
      <dgm:t>
        <a:bodyPr/>
        <a:lstStyle/>
        <a:p>
          <a:endParaRPr lang="ru-RU"/>
        </a:p>
      </dgm:t>
    </dgm:pt>
    <dgm:pt modelId="{7DB91F74-92EB-46D9-A5ED-CB06638D60C4}">
      <dgm:prSet/>
      <dgm:spPr/>
      <dgm:t>
        <a:bodyPr/>
        <a:lstStyle/>
        <a:p>
          <a:pPr rtl="0"/>
          <a:r>
            <a:rPr lang="en-US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etc</a:t>
          </a:r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.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6B1066-3710-48A1-B02C-AF32E10E6A62}" type="parTrans" cxnId="{6CF095B7-8CE2-4245-A639-B81FABDE889A}">
      <dgm:prSet/>
      <dgm:spPr/>
      <dgm:t>
        <a:bodyPr/>
        <a:lstStyle/>
        <a:p>
          <a:endParaRPr lang="ru-RU"/>
        </a:p>
      </dgm:t>
    </dgm:pt>
    <dgm:pt modelId="{4DA7B488-1E59-406E-8664-C95B4D517B00}" type="sibTrans" cxnId="{6CF095B7-8CE2-4245-A639-B81FABDE889A}">
      <dgm:prSet/>
      <dgm:spPr/>
      <dgm:t>
        <a:bodyPr/>
        <a:lstStyle/>
        <a:p>
          <a:endParaRPr lang="ru-RU"/>
        </a:p>
      </dgm:t>
    </dgm:pt>
    <dgm:pt modelId="{8D987B1B-6C89-4FB6-A478-779DA6413A41}">
      <dgm:prSet custT="1"/>
      <dgm:spPr/>
      <dgm:t>
        <a:bodyPr/>
        <a:lstStyle/>
        <a:p>
          <a:pPr rtl="0"/>
          <a:r>
            <a:rPr lang="ru-RU" sz="1600" dirty="0">
              <a:effectLst/>
            </a:rPr>
            <a:t>Те же </a:t>
          </a:r>
          <a:r>
            <a:rPr lang="ru-RU" sz="1600" b="1" dirty="0">
              <a:effectLst/>
            </a:rPr>
            <a:t>плюс</a:t>
          </a:r>
        </a:p>
      </dgm:t>
    </dgm:pt>
    <dgm:pt modelId="{819ED7E4-AD82-4DC9-B27F-58565227FB6E}" type="parTrans" cxnId="{EB9634C2-6858-445E-A3CB-B54C1EDF0B80}">
      <dgm:prSet/>
      <dgm:spPr/>
      <dgm:t>
        <a:bodyPr/>
        <a:lstStyle/>
        <a:p>
          <a:endParaRPr lang="en-US"/>
        </a:p>
      </dgm:t>
    </dgm:pt>
    <dgm:pt modelId="{66108727-56AF-43AE-9ED7-F96FCA4D35DF}" type="sibTrans" cxnId="{EB9634C2-6858-445E-A3CB-B54C1EDF0B80}">
      <dgm:prSet/>
      <dgm:spPr/>
      <dgm:t>
        <a:bodyPr/>
        <a:lstStyle/>
        <a:p>
          <a:endParaRPr lang="en-US"/>
        </a:p>
      </dgm:t>
    </dgm:pt>
    <dgm:pt modelId="{54BD049A-1205-427C-88B6-DA9DECEEDD9E}">
      <dgm:prSet custT="1"/>
      <dgm:spPr/>
      <dgm:t>
        <a:bodyPr/>
        <a:lstStyle/>
        <a:p>
          <a:pPr rtl="0"/>
          <a:r>
            <a:rPr lang="ru-RU" sz="1600" dirty="0">
              <a:effectLst/>
            </a:rPr>
            <a:t>Последовательное квадратичное программирование</a:t>
          </a:r>
        </a:p>
      </dgm:t>
    </dgm:pt>
    <dgm:pt modelId="{B3D0CD00-8895-41F0-B0C7-CE7EB22E6BFE}" type="parTrans" cxnId="{D9AAA7AD-0705-45BB-B108-D08CA23B7B80}">
      <dgm:prSet/>
      <dgm:spPr/>
      <dgm:t>
        <a:bodyPr/>
        <a:lstStyle/>
        <a:p>
          <a:endParaRPr lang="en-US"/>
        </a:p>
      </dgm:t>
    </dgm:pt>
    <dgm:pt modelId="{E49412A3-7FCF-42CF-B75B-6D2F3F71E284}" type="sibTrans" cxnId="{D9AAA7AD-0705-45BB-B108-D08CA23B7B80}">
      <dgm:prSet/>
      <dgm:spPr/>
      <dgm:t>
        <a:bodyPr/>
        <a:lstStyle/>
        <a:p>
          <a:endParaRPr lang="en-US"/>
        </a:p>
      </dgm:t>
    </dgm:pt>
    <dgm:pt modelId="{CE021668-8EE0-4239-8CAA-8ABA9FC76E7B}">
      <dgm:prSet custT="1"/>
      <dgm:spPr/>
      <dgm:t>
        <a:bodyPr/>
        <a:lstStyle/>
        <a:p>
          <a:pPr rtl="0"/>
          <a:r>
            <a:rPr lang="ru-RU" sz="1600" dirty="0">
              <a:effectLst/>
            </a:rPr>
            <a:t>Метод конечных приращений Лагранжа</a:t>
          </a:r>
        </a:p>
      </dgm:t>
    </dgm:pt>
    <dgm:pt modelId="{2E8C9140-8D6C-4AD3-B524-EBF7B91B3C23}" type="parTrans" cxnId="{15425DBC-EBE6-4ED5-9E43-B7240B44BB2C}">
      <dgm:prSet/>
      <dgm:spPr/>
      <dgm:t>
        <a:bodyPr/>
        <a:lstStyle/>
        <a:p>
          <a:endParaRPr lang="en-US"/>
        </a:p>
      </dgm:t>
    </dgm:pt>
    <dgm:pt modelId="{A8036DF3-E113-4AFC-A099-47E77969C59E}" type="sibTrans" cxnId="{15425DBC-EBE6-4ED5-9E43-B7240B44BB2C}">
      <dgm:prSet/>
      <dgm:spPr/>
      <dgm:t>
        <a:bodyPr/>
        <a:lstStyle/>
        <a:p>
          <a:endParaRPr lang="en-US"/>
        </a:p>
      </dgm:t>
    </dgm:pt>
    <dgm:pt modelId="{8E9F259A-9D66-4526-A111-75CE20EA0501}">
      <dgm:prSet custT="1"/>
      <dgm:spPr/>
      <dgm:t>
        <a:bodyPr/>
        <a:lstStyle/>
        <a:p>
          <a:pPr rtl="0"/>
          <a:r>
            <a:rPr lang="ru-RU" sz="1800" dirty="0"/>
            <a:t>генетический алгоритм (</a:t>
          </a:r>
          <a:r>
            <a:rPr lang="en-US" sz="1800" dirty="0"/>
            <a:t>Excel 2010)</a:t>
          </a:r>
          <a:endParaRPr lang="ru-RU" sz="1800" dirty="0"/>
        </a:p>
      </dgm:t>
    </dgm:pt>
    <dgm:pt modelId="{87B6B4FD-B4D5-4E00-BA77-56535C63C330}" type="parTrans" cxnId="{CEE50F5C-A5EB-40EE-8994-F8139DCC6F48}">
      <dgm:prSet/>
      <dgm:spPr/>
      <dgm:t>
        <a:bodyPr/>
        <a:lstStyle/>
        <a:p>
          <a:endParaRPr lang="en-US"/>
        </a:p>
      </dgm:t>
    </dgm:pt>
    <dgm:pt modelId="{2D13761F-8A9F-4C86-9B68-022E65F27359}" type="sibTrans" cxnId="{CEE50F5C-A5EB-40EE-8994-F8139DCC6F48}">
      <dgm:prSet/>
      <dgm:spPr/>
      <dgm:t>
        <a:bodyPr/>
        <a:lstStyle/>
        <a:p>
          <a:endParaRPr lang="en-US"/>
        </a:p>
      </dgm:t>
    </dgm:pt>
    <dgm:pt modelId="{D42513D0-301C-4827-8053-A6E4D389E8D1}" type="pres">
      <dgm:prSet presAssocID="{8053F8A7-9DAE-41E0-B941-EAF3EFD15A36}" presName="Name0" presStyleCnt="0">
        <dgm:presLayoutVars>
          <dgm:dir/>
          <dgm:animLvl val="lvl"/>
          <dgm:resizeHandles val="exact"/>
        </dgm:presLayoutVars>
      </dgm:prSet>
      <dgm:spPr/>
    </dgm:pt>
    <dgm:pt modelId="{053CABD2-CCE2-4EB2-A73C-82D1E2E0F2A7}" type="pres">
      <dgm:prSet presAssocID="{79777DB4-1D08-4A77-B09F-895DE6323823}" presName="linNode" presStyleCnt="0"/>
      <dgm:spPr/>
    </dgm:pt>
    <dgm:pt modelId="{83AEA671-9E98-4924-9207-D7CB0C28F1B8}" type="pres">
      <dgm:prSet presAssocID="{79777DB4-1D08-4A77-B09F-895DE6323823}" presName="parentText" presStyleLbl="node1" presStyleIdx="0" presStyleCnt="6" custScaleY="159004">
        <dgm:presLayoutVars>
          <dgm:chMax val="1"/>
          <dgm:bulletEnabled val="1"/>
        </dgm:presLayoutVars>
      </dgm:prSet>
      <dgm:spPr/>
    </dgm:pt>
    <dgm:pt modelId="{315DB07F-E433-4CDB-9EB0-B9580F235E66}" type="pres">
      <dgm:prSet presAssocID="{79777DB4-1D08-4A77-B09F-895DE6323823}" presName="descendantText" presStyleLbl="alignAccFollowNode1" presStyleIdx="0" presStyleCnt="3" custScaleY="189795">
        <dgm:presLayoutVars>
          <dgm:bulletEnabled val="1"/>
        </dgm:presLayoutVars>
      </dgm:prSet>
      <dgm:spPr/>
    </dgm:pt>
    <dgm:pt modelId="{071754C4-4F63-4525-A0D4-C9E129AA1E43}" type="pres">
      <dgm:prSet presAssocID="{7231E40B-BFB5-433D-8D65-686943C0D9BC}" presName="sp" presStyleCnt="0"/>
      <dgm:spPr/>
    </dgm:pt>
    <dgm:pt modelId="{93503928-B5BE-447C-BD2D-37F1FD1593A3}" type="pres">
      <dgm:prSet presAssocID="{4D74D155-BBC1-421D-BC5F-9B16D1DBA346}" presName="linNode" presStyleCnt="0"/>
      <dgm:spPr/>
    </dgm:pt>
    <dgm:pt modelId="{B0C0EAA9-6294-4B66-A8C3-95EF5D883319}" type="pres">
      <dgm:prSet presAssocID="{4D74D155-BBC1-421D-BC5F-9B16D1DBA346}" presName="parentText" presStyleLbl="node1" presStyleIdx="1" presStyleCnt="6" custScaleY="159004">
        <dgm:presLayoutVars>
          <dgm:chMax val="1"/>
          <dgm:bulletEnabled val="1"/>
        </dgm:presLayoutVars>
      </dgm:prSet>
      <dgm:spPr/>
    </dgm:pt>
    <dgm:pt modelId="{7B4D379C-E0A7-4D76-9F97-075F9ACF79D2}" type="pres">
      <dgm:prSet presAssocID="{4D74D155-BBC1-421D-BC5F-9B16D1DBA346}" presName="descendantText" presStyleLbl="alignAccFollowNode1" presStyleIdx="1" presStyleCnt="3" custScaleY="215936">
        <dgm:presLayoutVars>
          <dgm:bulletEnabled val="1"/>
        </dgm:presLayoutVars>
      </dgm:prSet>
      <dgm:spPr/>
    </dgm:pt>
    <dgm:pt modelId="{FC330EBD-AE54-4CAD-A703-6633CF2A7A72}" type="pres">
      <dgm:prSet presAssocID="{3D1E6AA8-14B2-4BA2-B4B4-F36BBB178ABE}" presName="sp" presStyleCnt="0"/>
      <dgm:spPr/>
    </dgm:pt>
    <dgm:pt modelId="{E39F6B96-B8E3-46D5-BBDA-8ED946AC9D82}" type="pres">
      <dgm:prSet presAssocID="{E45810CA-292A-430F-AF65-A0D74BDF6021}" presName="linNode" presStyleCnt="0"/>
      <dgm:spPr/>
    </dgm:pt>
    <dgm:pt modelId="{AF586288-E682-48D9-A603-24A6BA82ADAA}" type="pres">
      <dgm:prSet presAssocID="{E45810CA-292A-430F-AF65-A0D74BDF6021}" presName="parentText" presStyleLbl="node1" presStyleIdx="2" presStyleCnt="6" custScaleY="49940">
        <dgm:presLayoutVars>
          <dgm:chMax val="1"/>
          <dgm:bulletEnabled val="1"/>
        </dgm:presLayoutVars>
      </dgm:prSet>
      <dgm:spPr/>
    </dgm:pt>
    <dgm:pt modelId="{7ABC919F-8BCA-4E80-8139-308B5FFCB492}" type="pres">
      <dgm:prSet presAssocID="{16064B8F-32D0-4FB3-8721-8FF06B3F9E18}" presName="sp" presStyleCnt="0"/>
      <dgm:spPr/>
    </dgm:pt>
    <dgm:pt modelId="{C824D834-286D-48E8-80E7-0BB59426C314}" type="pres">
      <dgm:prSet presAssocID="{765740BF-FC7D-4C68-96CB-ABED8208483D}" presName="linNode" presStyleCnt="0"/>
      <dgm:spPr/>
    </dgm:pt>
    <dgm:pt modelId="{75F6F2FD-69C2-41B6-A1AD-39CA87599336}" type="pres">
      <dgm:prSet presAssocID="{765740BF-FC7D-4C68-96CB-ABED8208483D}" presName="parentText" presStyleLbl="node1" presStyleIdx="3" presStyleCnt="6" custScaleY="49940">
        <dgm:presLayoutVars>
          <dgm:chMax val="1"/>
          <dgm:bulletEnabled val="1"/>
        </dgm:presLayoutVars>
      </dgm:prSet>
      <dgm:spPr/>
    </dgm:pt>
    <dgm:pt modelId="{B49BF386-2402-4EB7-9150-4DFF1CB20CE4}" type="pres">
      <dgm:prSet presAssocID="{E2E7B46A-6153-4F31-A864-26994A1E9BB8}" presName="sp" presStyleCnt="0"/>
      <dgm:spPr/>
    </dgm:pt>
    <dgm:pt modelId="{C6E950C8-53D3-471E-B64F-4C9013239D72}" type="pres">
      <dgm:prSet presAssocID="{A9F66A35-FB32-4589-A55D-E87D287863C1}" presName="linNode" presStyleCnt="0"/>
      <dgm:spPr/>
    </dgm:pt>
    <dgm:pt modelId="{4AFC3E24-9D02-44F4-9BB8-DA802F824E94}" type="pres">
      <dgm:prSet presAssocID="{A9F66A35-FB32-4589-A55D-E87D287863C1}" presName="parentText" presStyleLbl="node1" presStyleIdx="4" presStyleCnt="6" custScaleY="138962">
        <dgm:presLayoutVars>
          <dgm:chMax val="1"/>
          <dgm:bulletEnabled val="1"/>
        </dgm:presLayoutVars>
      </dgm:prSet>
      <dgm:spPr/>
    </dgm:pt>
    <dgm:pt modelId="{8247B1E8-38F5-4DF8-8FD4-E4D69EDD616B}" type="pres">
      <dgm:prSet presAssocID="{A9F66A35-FB32-4589-A55D-E87D287863C1}" presName="descendantText" presStyleLbl="alignAccFollowNode1" presStyleIdx="2" presStyleCnt="3" custScaleY="177488">
        <dgm:presLayoutVars>
          <dgm:bulletEnabled val="1"/>
        </dgm:presLayoutVars>
      </dgm:prSet>
      <dgm:spPr/>
    </dgm:pt>
    <dgm:pt modelId="{19C06E3B-F634-47E3-A7F8-ADA917D85C69}" type="pres">
      <dgm:prSet presAssocID="{39A6C1EA-F411-440F-8B7B-DACDAF4D5618}" presName="sp" presStyleCnt="0"/>
      <dgm:spPr/>
    </dgm:pt>
    <dgm:pt modelId="{BE8D25BA-9C68-4F54-9D5B-CCE95E6E2394}" type="pres">
      <dgm:prSet presAssocID="{7DB91F74-92EB-46D9-A5ED-CB06638D60C4}" presName="linNode" presStyleCnt="0"/>
      <dgm:spPr/>
    </dgm:pt>
    <dgm:pt modelId="{FA30D56E-51EB-4FC9-9236-FE29A4540E2E}" type="pres">
      <dgm:prSet presAssocID="{7DB91F74-92EB-46D9-A5ED-CB06638D60C4}" presName="parentText" presStyleLbl="node1" presStyleIdx="5" presStyleCnt="6" custScaleY="49940">
        <dgm:presLayoutVars>
          <dgm:chMax val="1"/>
          <dgm:bulletEnabled val="1"/>
        </dgm:presLayoutVars>
      </dgm:prSet>
      <dgm:spPr/>
    </dgm:pt>
  </dgm:ptLst>
  <dgm:cxnLst>
    <dgm:cxn modelId="{71668707-EDE0-428D-BE27-8C2FBFC8D5CA}" type="presOf" srcId="{4FE015E6-3477-4348-A5B0-040B77BDBC88}" destId="{7B4D379C-E0A7-4D76-9F97-075F9ACF79D2}" srcOrd="0" destOrd="2" presId="urn:microsoft.com/office/officeart/2005/8/layout/vList5"/>
    <dgm:cxn modelId="{923E4D15-B1E1-44A6-B069-32A6D73BB312}" srcId="{4D74D155-BBC1-421D-BC5F-9B16D1DBA346}" destId="{4FE015E6-3477-4348-A5B0-040B77BDBC88}" srcOrd="2" destOrd="0" parTransId="{A750A9D9-007C-459B-AE3D-C591325B47BE}" sibTransId="{22826774-3899-4C0D-B11A-ACB907F368D8}"/>
    <dgm:cxn modelId="{85F28F22-564C-4B12-A88C-B41BF53D864F}" type="presOf" srcId="{A9F66A35-FB32-4589-A55D-E87D287863C1}" destId="{4AFC3E24-9D02-44F4-9BB8-DA802F824E94}" srcOrd="0" destOrd="0" presId="urn:microsoft.com/office/officeart/2005/8/layout/vList5"/>
    <dgm:cxn modelId="{0D5A2133-C73E-49CE-BB10-7A1CC08C1392}" srcId="{4D74D155-BBC1-421D-BC5F-9B16D1DBA346}" destId="{2270E52B-FC8E-49AA-B9A3-9FDE213E8156}" srcOrd="0" destOrd="0" parTransId="{F0BF963D-7F07-46D1-B872-25CEF42E4EF8}" sibTransId="{71E1CB5A-4193-4725-9E28-721628F0F156}"/>
    <dgm:cxn modelId="{CEE50F5C-A5EB-40EE-8994-F8139DCC6F48}" srcId="{79777DB4-1D08-4A77-B09F-895DE6323823}" destId="{8E9F259A-9D66-4526-A111-75CE20EA0501}" srcOrd="2" destOrd="0" parTransId="{87B6B4FD-B4D5-4E00-BA77-56535C63C330}" sibTransId="{2D13761F-8A9F-4C86-9B68-022E65F27359}"/>
    <dgm:cxn modelId="{F3FA2962-E195-4D7B-B13F-20D061AC50FD}" srcId="{8053F8A7-9DAE-41E0-B941-EAF3EFD15A36}" destId="{79777DB4-1D08-4A77-B09F-895DE6323823}" srcOrd="0" destOrd="0" parTransId="{FB97CE2A-0EE8-40BB-8E96-5BDA5704A642}" sibTransId="{7231E40B-BFB5-433D-8D65-686943C0D9BC}"/>
    <dgm:cxn modelId="{F43B2948-38AA-4C63-8C09-A1E9196C6167}" srcId="{8053F8A7-9DAE-41E0-B941-EAF3EFD15A36}" destId="{765740BF-FC7D-4C68-96CB-ABED8208483D}" srcOrd="3" destOrd="0" parTransId="{27F2630C-535E-43DF-BE73-0F10831BA5E8}" sibTransId="{E2E7B46A-6153-4F31-A864-26994A1E9BB8}"/>
    <dgm:cxn modelId="{D477FC55-585E-4D6B-A303-E7881773EEC0}" type="presOf" srcId="{10DF7FA7-B935-4CF6-B38D-E626989CD5CD}" destId="{7B4D379C-E0A7-4D76-9F97-075F9ACF79D2}" srcOrd="0" destOrd="1" presId="urn:microsoft.com/office/officeart/2005/8/layout/vList5"/>
    <dgm:cxn modelId="{8ABD2077-1F78-41A6-83BC-7C4459895DA2}" type="presOf" srcId="{79777DB4-1D08-4A77-B09F-895DE6323823}" destId="{83AEA671-9E98-4924-9207-D7CB0C28F1B8}" srcOrd="0" destOrd="0" presId="urn:microsoft.com/office/officeart/2005/8/layout/vList5"/>
    <dgm:cxn modelId="{99191D58-1CDF-4D9A-A781-ECFEC288E39E}" type="presOf" srcId="{2270E52B-FC8E-49AA-B9A3-9FDE213E8156}" destId="{7B4D379C-E0A7-4D76-9F97-075F9ACF79D2}" srcOrd="0" destOrd="0" presId="urn:microsoft.com/office/officeart/2005/8/layout/vList5"/>
    <dgm:cxn modelId="{42E2F358-B08F-4F6D-B576-64BEBB2BA3CC}" type="presOf" srcId="{8D987B1B-6C89-4FB6-A478-779DA6413A41}" destId="{8247B1E8-38F5-4DF8-8FD4-E4D69EDD616B}" srcOrd="0" destOrd="0" presId="urn:microsoft.com/office/officeart/2005/8/layout/vList5"/>
    <dgm:cxn modelId="{B58FC97B-A5F5-4B9D-A0EE-3CB9A19A1399}" srcId="{8053F8A7-9DAE-41E0-B941-EAF3EFD15A36}" destId="{4D74D155-BBC1-421D-BC5F-9B16D1DBA346}" srcOrd="1" destOrd="0" parTransId="{A9D04586-D835-4B94-B82B-80031C3548F8}" sibTransId="{3D1E6AA8-14B2-4BA2-B4B4-F36BBB178ABE}"/>
    <dgm:cxn modelId="{DA076C82-7AEE-43E6-AD2D-A57DB97A11A5}" type="presOf" srcId="{E45810CA-292A-430F-AF65-A0D74BDF6021}" destId="{AF586288-E682-48D9-A603-24A6BA82ADAA}" srcOrd="0" destOrd="0" presId="urn:microsoft.com/office/officeart/2005/8/layout/vList5"/>
    <dgm:cxn modelId="{C0E92784-B997-4A9C-A803-883B5BC4314B}" srcId="{8053F8A7-9DAE-41E0-B941-EAF3EFD15A36}" destId="{E45810CA-292A-430F-AF65-A0D74BDF6021}" srcOrd="2" destOrd="0" parTransId="{73BBFEED-FCC7-4660-96A0-CD459F9D4D53}" sibTransId="{16064B8F-32D0-4FB3-8721-8FF06B3F9E18}"/>
    <dgm:cxn modelId="{86E7AF84-6CDB-409C-BE89-C141B19462C9}" type="presOf" srcId="{8053F8A7-9DAE-41E0-B941-EAF3EFD15A36}" destId="{D42513D0-301C-4827-8053-A6E4D389E8D1}" srcOrd="0" destOrd="0" presId="urn:microsoft.com/office/officeart/2005/8/layout/vList5"/>
    <dgm:cxn modelId="{2291C78A-7AA9-4FF6-825B-8A9A2DBC481B}" srcId="{79777DB4-1D08-4A77-B09F-895DE6323823}" destId="{79CC780B-BE82-4E57-894D-FEE8ED4CA7EC}" srcOrd="0" destOrd="0" parTransId="{242CFCBC-393D-4FC5-991D-1ADD2E4E6B6B}" sibTransId="{97ACA4C0-91A1-44A2-8EFB-D9F430B75584}"/>
    <dgm:cxn modelId="{0B6E59A0-66E6-40B7-B8B3-057E338B03CD}" srcId="{79777DB4-1D08-4A77-B09F-895DE6323823}" destId="{3C5B47B5-A4C0-41E7-9A86-9B533AF129B4}" srcOrd="1" destOrd="0" parTransId="{9D1B637E-63AF-4F5C-9B85-E099D3BA90E4}" sibTransId="{877D9A8E-13A9-4237-B587-D665B0D15E95}"/>
    <dgm:cxn modelId="{8166E9A7-EFEB-4E0B-A7DB-AB245967A3FD}" type="presOf" srcId="{CE021668-8EE0-4239-8CAA-8ABA9FC76E7B}" destId="{8247B1E8-38F5-4DF8-8FD4-E4D69EDD616B}" srcOrd="0" destOrd="2" presId="urn:microsoft.com/office/officeart/2005/8/layout/vList5"/>
    <dgm:cxn modelId="{545B21A9-A620-42FE-A5D1-F80FEBDD3132}" srcId="{8053F8A7-9DAE-41E0-B941-EAF3EFD15A36}" destId="{A9F66A35-FB32-4589-A55D-E87D287863C1}" srcOrd="4" destOrd="0" parTransId="{933AF66E-68B5-44A2-A2AE-D1183E142509}" sibTransId="{39A6C1EA-F411-440F-8B7B-DACDAF4D5618}"/>
    <dgm:cxn modelId="{D9AAA7AD-0705-45BB-B108-D08CA23B7B80}" srcId="{A9F66A35-FB32-4589-A55D-E87D287863C1}" destId="{54BD049A-1205-427C-88B6-DA9DECEEDD9E}" srcOrd="1" destOrd="0" parTransId="{B3D0CD00-8895-41F0-B0C7-CE7EB22E6BFE}" sibTransId="{E49412A3-7FCF-42CF-B75B-6D2F3F71E284}"/>
    <dgm:cxn modelId="{FC7307B3-D8A3-43B4-B917-E6F0A8E16BB5}" srcId="{4D74D155-BBC1-421D-BC5F-9B16D1DBA346}" destId="{10DF7FA7-B935-4CF6-B38D-E626989CD5CD}" srcOrd="1" destOrd="0" parTransId="{96762382-3FDE-44EE-BA7C-15DE761CDA48}" sibTransId="{6C4BAF5D-2ADB-4526-9C3F-C3C551A9D188}"/>
    <dgm:cxn modelId="{6CF095B7-8CE2-4245-A639-B81FABDE889A}" srcId="{8053F8A7-9DAE-41E0-B941-EAF3EFD15A36}" destId="{7DB91F74-92EB-46D9-A5ED-CB06638D60C4}" srcOrd="5" destOrd="0" parTransId="{FD6B1066-3710-48A1-B02C-AF32E10E6A62}" sibTransId="{4DA7B488-1E59-406E-8664-C95B4D517B00}"/>
    <dgm:cxn modelId="{15425DBC-EBE6-4ED5-9E43-B7240B44BB2C}" srcId="{A9F66A35-FB32-4589-A55D-E87D287863C1}" destId="{CE021668-8EE0-4239-8CAA-8ABA9FC76E7B}" srcOrd="2" destOrd="0" parTransId="{2E8C9140-8D6C-4AD3-B524-EBF7B91B3C23}" sibTransId="{A8036DF3-E113-4AFC-A099-47E77969C59E}"/>
    <dgm:cxn modelId="{28767DC1-72BE-403B-BFBA-EAE45E697E35}" type="presOf" srcId="{8E9F259A-9D66-4526-A111-75CE20EA0501}" destId="{315DB07F-E433-4CDB-9EB0-B9580F235E66}" srcOrd="0" destOrd="2" presId="urn:microsoft.com/office/officeart/2005/8/layout/vList5"/>
    <dgm:cxn modelId="{EB9634C2-6858-445E-A3CB-B54C1EDF0B80}" srcId="{A9F66A35-FB32-4589-A55D-E87D287863C1}" destId="{8D987B1B-6C89-4FB6-A478-779DA6413A41}" srcOrd="0" destOrd="0" parTransId="{819ED7E4-AD82-4DC9-B27F-58565227FB6E}" sibTransId="{66108727-56AF-43AE-9ED7-F96FCA4D35DF}"/>
    <dgm:cxn modelId="{453233C9-65AD-4979-A9F9-658D4825014C}" type="presOf" srcId="{3C5B47B5-A4C0-41E7-9A86-9B533AF129B4}" destId="{315DB07F-E433-4CDB-9EB0-B9580F235E66}" srcOrd="0" destOrd="1" presId="urn:microsoft.com/office/officeart/2005/8/layout/vList5"/>
    <dgm:cxn modelId="{1A293ECF-233A-460C-96B1-BDEAF7F54378}" type="presOf" srcId="{4D74D155-BBC1-421D-BC5F-9B16D1DBA346}" destId="{B0C0EAA9-6294-4B66-A8C3-95EF5D883319}" srcOrd="0" destOrd="0" presId="urn:microsoft.com/office/officeart/2005/8/layout/vList5"/>
    <dgm:cxn modelId="{BC8EAAE5-19D0-4673-8BDF-C83958EAA3D1}" type="presOf" srcId="{79CC780B-BE82-4E57-894D-FEE8ED4CA7EC}" destId="{315DB07F-E433-4CDB-9EB0-B9580F235E66}" srcOrd="0" destOrd="0" presId="urn:microsoft.com/office/officeart/2005/8/layout/vList5"/>
    <dgm:cxn modelId="{69D3F4F9-3B30-4CD8-ABFA-C730CF70079D}" type="presOf" srcId="{765740BF-FC7D-4C68-96CB-ABED8208483D}" destId="{75F6F2FD-69C2-41B6-A1AD-39CA87599336}" srcOrd="0" destOrd="0" presId="urn:microsoft.com/office/officeart/2005/8/layout/vList5"/>
    <dgm:cxn modelId="{937E91FD-64DB-429A-8209-B859297F57B1}" type="presOf" srcId="{54BD049A-1205-427C-88B6-DA9DECEEDD9E}" destId="{8247B1E8-38F5-4DF8-8FD4-E4D69EDD616B}" srcOrd="0" destOrd="1" presId="urn:microsoft.com/office/officeart/2005/8/layout/vList5"/>
    <dgm:cxn modelId="{2050BFFD-6C45-4A77-B145-D6265ACB299C}" type="presOf" srcId="{7DB91F74-92EB-46D9-A5ED-CB06638D60C4}" destId="{FA30D56E-51EB-4FC9-9236-FE29A4540E2E}" srcOrd="0" destOrd="0" presId="urn:microsoft.com/office/officeart/2005/8/layout/vList5"/>
    <dgm:cxn modelId="{F6ABE878-EB62-49D6-B4C0-6A5995E2857E}" type="presParOf" srcId="{D42513D0-301C-4827-8053-A6E4D389E8D1}" destId="{053CABD2-CCE2-4EB2-A73C-82D1E2E0F2A7}" srcOrd="0" destOrd="0" presId="urn:microsoft.com/office/officeart/2005/8/layout/vList5"/>
    <dgm:cxn modelId="{C9EE4046-DA1A-4147-861A-3D1A38B14790}" type="presParOf" srcId="{053CABD2-CCE2-4EB2-A73C-82D1E2E0F2A7}" destId="{83AEA671-9E98-4924-9207-D7CB0C28F1B8}" srcOrd="0" destOrd="0" presId="urn:microsoft.com/office/officeart/2005/8/layout/vList5"/>
    <dgm:cxn modelId="{771D0A5E-5B41-45F9-8CC3-132DB0830164}" type="presParOf" srcId="{053CABD2-CCE2-4EB2-A73C-82D1E2E0F2A7}" destId="{315DB07F-E433-4CDB-9EB0-B9580F235E66}" srcOrd="1" destOrd="0" presId="urn:microsoft.com/office/officeart/2005/8/layout/vList5"/>
    <dgm:cxn modelId="{D620B13A-5B9A-41BA-962E-77E3AD285C1A}" type="presParOf" srcId="{D42513D0-301C-4827-8053-A6E4D389E8D1}" destId="{071754C4-4F63-4525-A0D4-C9E129AA1E43}" srcOrd="1" destOrd="0" presId="urn:microsoft.com/office/officeart/2005/8/layout/vList5"/>
    <dgm:cxn modelId="{FD4915AE-32F0-4648-8BDE-D86BED971F3E}" type="presParOf" srcId="{D42513D0-301C-4827-8053-A6E4D389E8D1}" destId="{93503928-B5BE-447C-BD2D-37F1FD1593A3}" srcOrd="2" destOrd="0" presId="urn:microsoft.com/office/officeart/2005/8/layout/vList5"/>
    <dgm:cxn modelId="{A5DF2902-64F9-4F8B-B473-A8909BAC5DA2}" type="presParOf" srcId="{93503928-B5BE-447C-BD2D-37F1FD1593A3}" destId="{B0C0EAA9-6294-4B66-A8C3-95EF5D883319}" srcOrd="0" destOrd="0" presId="urn:microsoft.com/office/officeart/2005/8/layout/vList5"/>
    <dgm:cxn modelId="{28B6F837-12B7-4261-BCB4-942FB57FFDAB}" type="presParOf" srcId="{93503928-B5BE-447C-BD2D-37F1FD1593A3}" destId="{7B4D379C-E0A7-4D76-9F97-075F9ACF79D2}" srcOrd="1" destOrd="0" presId="urn:microsoft.com/office/officeart/2005/8/layout/vList5"/>
    <dgm:cxn modelId="{31E23E18-1FDE-4C02-8F61-813DDFB98284}" type="presParOf" srcId="{D42513D0-301C-4827-8053-A6E4D389E8D1}" destId="{FC330EBD-AE54-4CAD-A703-6633CF2A7A72}" srcOrd="3" destOrd="0" presId="urn:microsoft.com/office/officeart/2005/8/layout/vList5"/>
    <dgm:cxn modelId="{79CB0979-F8EC-4990-9FE1-1CB6F3CEB9FE}" type="presParOf" srcId="{D42513D0-301C-4827-8053-A6E4D389E8D1}" destId="{E39F6B96-B8E3-46D5-BBDA-8ED946AC9D82}" srcOrd="4" destOrd="0" presId="urn:microsoft.com/office/officeart/2005/8/layout/vList5"/>
    <dgm:cxn modelId="{8CE19599-6A6D-42C2-BA54-3C24D50EC790}" type="presParOf" srcId="{E39F6B96-B8E3-46D5-BBDA-8ED946AC9D82}" destId="{AF586288-E682-48D9-A603-24A6BA82ADAA}" srcOrd="0" destOrd="0" presId="urn:microsoft.com/office/officeart/2005/8/layout/vList5"/>
    <dgm:cxn modelId="{611362C4-A259-4EFA-97D3-B75AE8F322E0}" type="presParOf" srcId="{D42513D0-301C-4827-8053-A6E4D389E8D1}" destId="{7ABC919F-8BCA-4E80-8139-308B5FFCB492}" srcOrd="5" destOrd="0" presId="urn:microsoft.com/office/officeart/2005/8/layout/vList5"/>
    <dgm:cxn modelId="{C806461D-64EA-49ED-BABB-4B8631494366}" type="presParOf" srcId="{D42513D0-301C-4827-8053-A6E4D389E8D1}" destId="{C824D834-286D-48E8-80E7-0BB59426C314}" srcOrd="6" destOrd="0" presId="urn:microsoft.com/office/officeart/2005/8/layout/vList5"/>
    <dgm:cxn modelId="{29E9FD04-5447-46B6-9E2C-4E2642614AD8}" type="presParOf" srcId="{C824D834-286D-48E8-80E7-0BB59426C314}" destId="{75F6F2FD-69C2-41B6-A1AD-39CA87599336}" srcOrd="0" destOrd="0" presId="urn:microsoft.com/office/officeart/2005/8/layout/vList5"/>
    <dgm:cxn modelId="{8BBF986F-8854-495C-8C2F-C9AFC126A722}" type="presParOf" srcId="{D42513D0-301C-4827-8053-A6E4D389E8D1}" destId="{B49BF386-2402-4EB7-9150-4DFF1CB20CE4}" srcOrd="7" destOrd="0" presId="urn:microsoft.com/office/officeart/2005/8/layout/vList5"/>
    <dgm:cxn modelId="{F5D5ACE7-7ED9-4E3B-867E-5C72F3742642}" type="presParOf" srcId="{D42513D0-301C-4827-8053-A6E4D389E8D1}" destId="{C6E950C8-53D3-471E-B64F-4C9013239D72}" srcOrd="8" destOrd="0" presId="urn:microsoft.com/office/officeart/2005/8/layout/vList5"/>
    <dgm:cxn modelId="{1E5C8208-EB58-4674-8076-0B5017B3BF61}" type="presParOf" srcId="{C6E950C8-53D3-471E-B64F-4C9013239D72}" destId="{4AFC3E24-9D02-44F4-9BB8-DA802F824E94}" srcOrd="0" destOrd="0" presId="urn:microsoft.com/office/officeart/2005/8/layout/vList5"/>
    <dgm:cxn modelId="{21925C8A-13F6-4E29-B7FC-2A232100FD68}" type="presParOf" srcId="{C6E950C8-53D3-471E-B64F-4C9013239D72}" destId="{8247B1E8-38F5-4DF8-8FD4-E4D69EDD616B}" srcOrd="1" destOrd="0" presId="urn:microsoft.com/office/officeart/2005/8/layout/vList5"/>
    <dgm:cxn modelId="{A1E3F386-F0A9-4ADC-9E2A-0699412A85EC}" type="presParOf" srcId="{D42513D0-301C-4827-8053-A6E4D389E8D1}" destId="{19C06E3B-F634-47E3-A7F8-ADA917D85C69}" srcOrd="9" destOrd="0" presId="urn:microsoft.com/office/officeart/2005/8/layout/vList5"/>
    <dgm:cxn modelId="{E792FCE3-50FA-40EE-A72F-A443ED8A7E8C}" type="presParOf" srcId="{D42513D0-301C-4827-8053-A6E4D389E8D1}" destId="{BE8D25BA-9C68-4F54-9D5B-CCE95E6E2394}" srcOrd="10" destOrd="0" presId="urn:microsoft.com/office/officeart/2005/8/layout/vList5"/>
    <dgm:cxn modelId="{BFF1C0AF-461D-455E-81DE-AA91834CB574}" type="presParOf" srcId="{BE8D25BA-9C68-4F54-9D5B-CCE95E6E2394}" destId="{FA30D56E-51EB-4FC9-9236-FE29A4540E2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BAA85-F370-4F60-A189-23B4AC0BF4A4}">
      <dsp:nvSpPr>
        <dsp:cNvPr id="0" name=""/>
        <dsp:cNvSpPr/>
      </dsp:nvSpPr>
      <dsp:spPr>
        <a:xfrm>
          <a:off x="0" y="269622"/>
          <a:ext cx="4560202" cy="225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i="1" kern="1200" dirty="0"/>
            <a:t>Градиент функции в данной точке</a:t>
          </a:r>
          <a:r>
            <a:rPr lang="ru-RU" sz="2600" kern="1200" dirty="0"/>
            <a:t> – вектор, составленный из её частных производных по всем переменным в данной точке</a:t>
          </a:r>
        </a:p>
      </dsp:txBody>
      <dsp:txXfrm>
        <a:off x="109889" y="379511"/>
        <a:ext cx="4340424" cy="2031302"/>
      </dsp:txXfrm>
    </dsp:sp>
    <dsp:sp modelId="{67ECDF10-24D6-4611-BFC5-1244BC288048}">
      <dsp:nvSpPr>
        <dsp:cNvPr id="0" name=""/>
        <dsp:cNvSpPr/>
      </dsp:nvSpPr>
      <dsp:spPr>
        <a:xfrm>
          <a:off x="0" y="2520702"/>
          <a:ext cx="4560202" cy="148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6" tIns="33020" rIns="184912" bIns="33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000" kern="1200" dirty="0"/>
            <a:t>Направление градиента указывает направление, в котором функция растёт быстрее всего, а его </a:t>
          </a:r>
          <a:r>
            <a:rPr lang="ru-RU" sz="2000" i="1" kern="1200" dirty="0"/>
            <a:t>модуль</a:t>
          </a:r>
          <a:r>
            <a:rPr lang="ru-RU" sz="2000" kern="1200" dirty="0"/>
            <a:t> (длина, евклидова норма) характеризует скорость роста</a:t>
          </a:r>
        </a:p>
      </dsp:txBody>
      <dsp:txXfrm>
        <a:off x="0" y="2520702"/>
        <a:ext cx="4560202" cy="14800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DB07F-E433-4CDB-9EB0-B9580F235E66}">
      <dsp:nvSpPr>
        <dsp:cNvPr id="0" name=""/>
        <dsp:cNvSpPr/>
      </dsp:nvSpPr>
      <dsp:spPr>
        <a:xfrm rot="5400000">
          <a:off x="4765990" y="-1951193"/>
          <a:ext cx="998872" cy="495213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 err="1"/>
            <a:t>квази-Ньютоновский</a:t>
          </a:r>
          <a:endParaRPr lang="ru-RU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метод сопряжённых градиентов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kern="1200" dirty="0"/>
            <a:t>генетический алгоритм (</a:t>
          </a:r>
          <a:r>
            <a:rPr lang="en-US" sz="1800" kern="1200" dirty="0"/>
            <a:t>Excel 2010)</a:t>
          </a:r>
          <a:endParaRPr lang="ru-RU" sz="1800" kern="1200" dirty="0"/>
        </a:p>
      </dsp:txBody>
      <dsp:txXfrm rot="-5400000">
        <a:off x="2789360" y="74198"/>
        <a:ext cx="4903372" cy="901350"/>
      </dsp:txXfrm>
    </dsp:sp>
    <dsp:sp modelId="{83AEA671-9E98-4924-9207-D7CB0C28F1B8}">
      <dsp:nvSpPr>
        <dsp:cNvPr id="0" name=""/>
        <dsp:cNvSpPr/>
      </dsp:nvSpPr>
      <dsp:spPr>
        <a:xfrm>
          <a:off x="3785" y="1859"/>
          <a:ext cx="2785574" cy="104602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MS Excel</a:t>
          </a:r>
          <a:endParaRPr lang="ru-RU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4848" y="52922"/>
        <a:ext cx="2683448" cy="943902"/>
      </dsp:txXfrm>
    </dsp:sp>
    <dsp:sp modelId="{7B4D379C-E0A7-4D76-9F97-075F9ACF79D2}">
      <dsp:nvSpPr>
        <dsp:cNvPr id="0" name=""/>
        <dsp:cNvSpPr/>
      </dsp:nvSpPr>
      <dsp:spPr>
        <a:xfrm rot="5400000">
          <a:off x="4702345" y="-829481"/>
          <a:ext cx="1136450" cy="49569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 err="1"/>
            <a:t>квази-Ньютоновский</a:t>
          </a:r>
          <a:endParaRPr lang="ru-R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метод сопряжённых градиентов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метод </a:t>
          </a:r>
          <a:r>
            <a:rPr lang="ru-RU" sz="2000" kern="1200" dirty="0" err="1"/>
            <a:t>Левенберга-Марквардта</a:t>
          </a:r>
          <a:endParaRPr lang="ru-RU" sz="2000" kern="1200" dirty="0"/>
        </a:p>
      </dsp:txBody>
      <dsp:txXfrm rot="-5400000">
        <a:off x="2792084" y="1136257"/>
        <a:ext cx="4901496" cy="1025496"/>
      </dsp:txXfrm>
    </dsp:sp>
    <dsp:sp modelId="{B0C0EAA9-6294-4B66-A8C3-95EF5D883319}">
      <dsp:nvSpPr>
        <dsp:cNvPr id="0" name=""/>
        <dsp:cNvSpPr/>
      </dsp:nvSpPr>
      <dsp:spPr>
        <a:xfrm>
          <a:off x="3785" y="1125991"/>
          <a:ext cx="2788297" cy="104602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MathCad</a:t>
          </a:r>
          <a:endParaRPr lang="ru-RU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4848" y="1177054"/>
        <a:ext cx="2686171" cy="943902"/>
      </dsp:txXfrm>
    </dsp:sp>
    <dsp:sp modelId="{AF586288-E682-48D9-A603-24A6BA82ADAA}">
      <dsp:nvSpPr>
        <dsp:cNvPr id="0" name=""/>
        <dsp:cNvSpPr/>
      </dsp:nvSpPr>
      <dsp:spPr>
        <a:xfrm>
          <a:off x="3785" y="2250124"/>
          <a:ext cx="2791023" cy="3285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GAMS</a:t>
          </a:r>
          <a:endParaRPr lang="ru-RU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9823" y="2266162"/>
        <a:ext cx="2758947" cy="296460"/>
      </dsp:txXfrm>
    </dsp:sp>
    <dsp:sp modelId="{75F6F2FD-69C2-41B6-A1AD-39CA87599336}">
      <dsp:nvSpPr>
        <dsp:cNvPr id="0" name=""/>
        <dsp:cNvSpPr/>
      </dsp:nvSpPr>
      <dsp:spPr>
        <a:xfrm>
          <a:off x="3785" y="2611553"/>
          <a:ext cx="2791023" cy="3285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SNOPT</a:t>
          </a:r>
          <a:endParaRPr lang="ru-RU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9823" y="2627591"/>
        <a:ext cx="2758947" cy="296460"/>
      </dsp:txXfrm>
    </dsp:sp>
    <dsp:sp modelId="{8247B1E8-38F5-4DF8-8FD4-E4D69EDD616B}">
      <dsp:nvSpPr>
        <dsp:cNvPr id="0" name=""/>
        <dsp:cNvSpPr/>
      </dsp:nvSpPr>
      <dsp:spPr>
        <a:xfrm rot="5400000">
          <a:off x="4803519" y="961547"/>
          <a:ext cx="934102" cy="49569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effectLst/>
            </a:rPr>
            <a:t>Те же </a:t>
          </a:r>
          <a:r>
            <a:rPr lang="ru-RU" sz="1600" b="1" kern="1200" dirty="0">
              <a:effectLst/>
            </a:rPr>
            <a:t>плюс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effectLst/>
            </a:rPr>
            <a:t>Последовательное квадратичное программирование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effectLst/>
            </a:rPr>
            <a:t>Метод конечных приращений Лагранжа</a:t>
          </a:r>
        </a:p>
      </dsp:txBody>
      <dsp:txXfrm rot="-5400000">
        <a:off x="2792084" y="3018582"/>
        <a:ext cx="4911374" cy="842904"/>
      </dsp:txXfrm>
    </dsp:sp>
    <dsp:sp modelId="{4AFC3E24-9D02-44F4-9BB8-DA802F824E94}">
      <dsp:nvSpPr>
        <dsp:cNvPr id="0" name=""/>
        <dsp:cNvSpPr/>
      </dsp:nvSpPr>
      <dsp:spPr>
        <a:xfrm>
          <a:off x="3785" y="2982945"/>
          <a:ext cx="2788297" cy="91417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</a:t>
          </a:r>
        </a:p>
      </dsp:txBody>
      <dsp:txXfrm>
        <a:off x="48412" y="3027572"/>
        <a:ext cx="2699043" cy="824925"/>
      </dsp:txXfrm>
    </dsp:sp>
    <dsp:sp modelId="{FA30D56E-51EB-4FC9-9236-FE29A4540E2E}">
      <dsp:nvSpPr>
        <dsp:cNvPr id="0" name=""/>
        <dsp:cNvSpPr/>
      </dsp:nvSpPr>
      <dsp:spPr>
        <a:xfrm>
          <a:off x="3785" y="3939979"/>
          <a:ext cx="2791023" cy="32853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etc</a:t>
          </a: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.</a:t>
          </a:r>
          <a:endParaRPr lang="ru-RU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9823" y="3956017"/>
        <a:ext cx="2758947" cy="296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917FDC7B-64DC-4FEC-91D5-AAFB979CA6A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C0E8884-518D-48F0-B80E-56F478F9A48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9FB79AD5-6630-4C74-846A-0CD8199E0F1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ABF66AED-1EC0-4B06-9A2E-CE1CBD8BCA6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9712325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imes New Roman" panose="02020603050405020304" pitchFamily="18" charset="0"/>
              </a:defRPr>
            </a:lvl1pPr>
          </a:lstStyle>
          <a:p>
            <a:fld id="{2458CD19-5753-4E84-A1A7-B9B24A9C71F8}" type="slidenum">
              <a:rPr lang="ru-RU" altLang="en-US"/>
              <a:pPr/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2A4AD70-003C-4D17-B1DC-A9B56C7E68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06C4B2C-261C-4991-B895-CE41E808B98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F1B09AD5-069D-4A41-9A87-5682BB6ABB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766763"/>
            <a:ext cx="5111750" cy="3833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59B765C3-6927-46F4-8B91-9575C44C8B8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C46EE800-FFEE-47BD-AD22-D2069564D5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6026327E-BD31-46AF-A87E-C6FF7D0976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9712325"/>
            <a:ext cx="30702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11" tIns="49455" rIns="98911" bIns="49455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imes New Roman" panose="02020603050405020304" pitchFamily="18" charset="0"/>
              </a:defRPr>
            </a:lvl1pPr>
          </a:lstStyle>
          <a:p>
            <a:fld id="{0CF1DD56-342F-4FBA-B205-8EC66CBB13F8}" type="slidenum">
              <a:rPr lang="ru-RU" altLang="en-US"/>
              <a:pPr/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Образ слайда 1">
            <a:extLst>
              <a:ext uri="{FF2B5EF4-FFF2-40B4-BE49-F238E27FC236}">
                <a16:creationId xmlns:a16="http://schemas.microsoft.com/office/drawing/2014/main" id="{0E4892E5-F695-4CE3-B514-6236721AC4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Заметки 2">
            <a:extLst>
              <a:ext uri="{FF2B5EF4-FFF2-40B4-BE49-F238E27FC236}">
                <a16:creationId xmlns:a16="http://schemas.microsoft.com/office/drawing/2014/main" id="{D28EE9F4-5B3F-4FAE-84E5-663087DB3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ru-RU" altLang="ru-RU" sz="2400">
              <a:latin typeface="Tahoma" panose="020B0604030504040204" pitchFamily="34" charset="0"/>
            </a:endParaRPr>
          </a:p>
        </p:txBody>
      </p:sp>
      <p:sp>
        <p:nvSpPr>
          <p:cNvPr id="22532" name="Номер слайда 3">
            <a:extLst>
              <a:ext uri="{FF2B5EF4-FFF2-40B4-BE49-F238E27FC236}">
                <a16:creationId xmlns:a16="http://schemas.microsoft.com/office/drawing/2014/main" id="{68BDCBF7-3BEC-4A5C-8ACD-A9ED9DE03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BA6DC1E-AB6C-41A1-896B-B90995931557}" type="slidenum">
              <a:rPr kumimoji="0" lang="ru-RU" altLang="ru-RU" sz="1300"/>
              <a:pPr eaLnBrk="1" hangingPunct="1">
                <a:spcBef>
                  <a:spcPct val="0"/>
                </a:spcBef>
              </a:pPr>
              <a:t>1</a:t>
            </a:fld>
            <a:endParaRPr kumimoji="0" lang="ru-RU" altLang="ru-RU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Образ слайда 1">
            <a:extLst>
              <a:ext uri="{FF2B5EF4-FFF2-40B4-BE49-F238E27FC236}">
                <a16:creationId xmlns:a16="http://schemas.microsoft.com/office/drawing/2014/main" id="{77FF81D2-5523-42DD-8C44-11C312440E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Заметки 2">
            <a:extLst>
              <a:ext uri="{FF2B5EF4-FFF2-40B4-BE49-F238E27FC236}">
                <a16:creationId xmlns:a16="http://schemas.microsoft.com/office/drawing/2014/main" id="{CC0374FF-6231-46AE-BC55-B98C3C2EE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b="1"/>
              <a:t>Сепарабельное представление</a:t>
            </a:r>
          </a:p>
          <a:p>
            <a:r>
              <a:rPr lang="ru-RU" altLang="ru-RU"/>
              <a:t>Последнее ограничение «держит» всегда, среднее – только при x3=0, первое – только при x4=0.</a:t>
            </a:r>
          </a:p>
          <a:p>
            <a:r>
              <a:rPr lang="ru-RU" altLang="ru-RU"/>
              <a:t>"Тысяча" может быть любым числом, превышающим коэффициент при той же переменной в другом уравнении.</a:t>
            </a:r>
            <a:endParaRPr lang="en-US" altLang="ru-RU"/>
          </a:p>
        </p:txBody>
      </p:sp>
      <p:sp>
        <p:nvSpPr>
          <p:cNvPr id="23556" name="Номер слайда 3">
            <a:extLst>
              <a:ext uri="{FF2B5EF4-FFF2-40B4-BE49-F238E27FC236}">
                <a16:creationId xmlns:a16="http://schemas.microsoft.com/office/drawing/2014/main" id="{69837E14-F7BA-4563-8BE1-AE83FD881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FC95EC-8081-4E5F-8A4B-602E98587AC1}" type="slidenum">
              <a:rPr kumimoji="0" lang="ru-RU" altLang="ru-RU" sz="1300"/>
              <a:pPr eaLnBrk="1" hangingPunct="1">
                <a:spcBef>
                  <a:spcPct val="0"/>
                </a:spcBef>
              </a:pPr>
              <a:t>9</a:t>
            </a:fld>
            <a:endParaRPr kumimoji="0" lang="ru-RU" altLang="ru-RU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93F98F-7441-4605-AF08-47DDBAAA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9B8D4-AB29-49AE-8836-AA95D52A1F49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750C1B-EF8E-41FD-99CC-CBECF842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6C1C2C-586B-42CB-8404-B1E42FB6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296C3-925F-470D-B6BD-34319F487306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361048374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63" descr="mf_svetlov3">
            <a:extLst>
              <a:ext uri="{FF2B5EF4-FFF2-40B4-BE49-F238E27FC236}">
                <a16:creationId xmlns:a16="http://schemas.microsoft.com/office/drawing/2014/main" id="{33F816A3-7E5B-4E69-B13A-0E29B8D65A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8D11F7D-BE7F-4D52-976E-BDCA32497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9D36FA-A517-494E-A7AB-79800133E58B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68514C3-EC22-4239-8FAD-FECBAE22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19225" y="6356350"/>
            <a:ext cx="66421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</a:t>
            </a:r>
            <a:r>
              <a:rPr lang="ru-RU" err="1"/>
              <a:t>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3CC1045-88A0-47B6-9DCF-ED965537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56A0EF-1EC5-4CE6-9F65-6B56ED03BE3D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2476697725"/>
      </p:ext>
    </p:extLst>
  </p:cSld>
  <p:clrMapOvr>
    <a:masterClrMapping/>
  </p:clrMapOvr>
  <p:transition>
    <p:cover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6ED43D-8A30-4CAA-BF76-DACAFC4A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33FC5-38BD-4D11-9180-791D30A4C80E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A7910E-42C4-4655-9657-EF34BE8E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27880D-CD6C-44AD-B940-E2556045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EA50A8-9AF5-458F-958E-5C540BC56C88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221965851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8AC35675-0722-4AAF-A10C-C2A0E48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861F5-2262-472C-B8E3-A2301727E9B3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14EB117-ED61-4773-A4DB-C45873019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5995D22-E701-4E8A-BA4E-F94F8507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3A41F-DDF3-41A0-B127-9DDF88ED18CC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191413284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B4E33684-932C-4FCB-AAB4-8D5C19A7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F73F9-033F-45E1-9D1A-FB9E11476704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FE450307-CC53-4A6B-9B71-3F46E0AD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F1FDC6F-9B0C-4623-8B90-F582B01F1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FD2768-C37A-4A78-A80A-434E164E9B07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251009499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F9ACE2EE-2061-4DF2-8FAC-1F7F05B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C4393-BCB0-4CA3-A929-73C258294CAB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E952CF94-C86D-4929-9D31-7678A040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82295F6B-00DB-4B7D-A790-665ADB0A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CB189-D39E-4CA9-9001-655175AA9838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240479534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AA11F472-627C-4FC4-A3B8-9C6C26C5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482E5-6A22-42FA-A1FE-E1294FDBFFC1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CCDADE2-D139-4FA7-97BE-0CB6DE0F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63A6CCA9-4743-4175-867A-4985E0F0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4BBCB7-C848-40EC-9ED8-043450BC97A7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393431901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5C5962C-530F-4851-BD4C-76F0027B9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D6DD4-C595-48E1-9B16-25B0C53FA94D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2F2038BD-AC16-477B-A078-7F961F43B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CAAE566-B471-4C1A-B628-BB1DFE12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EF8C5-111C-4554-9110-BF40E7A57BD6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1212626693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0FD07C28-80C3-436D-A6EA-7AF4B62C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33A7F-6508-4CD2-B015-CEDE35DF3F79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B75201F7-C240-495C-9D04-104D1DAA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598A8C6-737F-4CC8-A764-12002068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42E1B-44EA-4554-9CBB-55F6EB56D6FC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182113256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8728AB-970B-4C81-9E62-B90BD0E3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2BE58-2011-4644-A755-BFA82D97A51D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0BA5F1-CF13-43D2-900E-F5170441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6A77FE-9055-4921-95C0-95AA0476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0FE42-EBFD-41AB-A260-D7F5AE83F5C7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344767223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805646-A0D8-4B43-AB37-3C307E005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F87D67-7BEC-4C5A-AFC9-A18A01FD0E9E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67F570-2B05-4018-9B27-65B21975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B290D8-CBA5-4B33-B009-1279DECD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899A9-7EC9-48B1-B801-DE9093DD02D0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2554491915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26">
            <a:extLst>
              <a:ext uri="{FF2B5EF4-FFF2-40B4-BE49-F238E27FC236}">
                <a16:creationId xmlns:a16="http://schemas.microsoft.com/office/drawing/2014/main" id="{4B13EC55-DC22-450F-ADC7-5753A0D3D9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1085850" cy="6854825"/>
            <a:chOff x="0" y="0"/>
            <a:chExt cx="684" cy="4318"/>
          </a:xfrm>
        </p:grpSpPr>
        <p:sp>
          <p:nvSpPr>
            <p:cNvPr id="6" name="Rectangle 1027">
              <a:extLst>
                <a:ext uri="{FF2B5EF4-FFF2-40B4-BE49-F238E27FC236}">
                  <a16:creationId xmlns:a16="http://schemas.microsoft.com/office/drawing/2014/main" id="{CCF0C1E1-3FB1-4EA2-9672-956B00CB7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9" name="Group 1028">
              <a:extLst>
                <a:ext uri="{FF2B5EF4-FFF2-40B4-BE49-F238E27FC236}">
                  <a16:creationId xmlns:a16="http://schemas.microsoft.com/office/drawing/2014/main" id="{B5F8FD97-1C1D-42E3-BC33-033BC255FD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" name="Rectangle 1029">
                <a:extLst>
                  <a:ext uri="{FF2B5EF4-FFF2-40B4-BE49-F238E27FC236}">
                    <a16:creationId xmlns:a16="http://schemas.microsoft.com/office/drawing/2014/main" id="{71A48344-384F-458A-BE51-EE56C0E66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Rectangle 1030">
                <a:extLst>
                  <a:ext uri="{FF2B5EF4-FFF2-40B4-BE49-F238E27FC236}">
                    <a16:creationId xmlns:a16="http://schemas.microsoft.com/office/drawing/2014/main" id="{76B83210-97BA-442A-BA88-6E1B4A31F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" name="Rectangle 1031">
                <a:extLst>
                  <a:ext uri="{FF2B5EF4-FFF2-40B4-BE49-F238E27FC236}">
                    <a16:creationId xmlns:a16="http://schemas.microsoft.com/office/drawing/2014/main" id="{5A15F946-FFAA-4E46-B16B-1427FA0322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" name="Rectangle 1032">
                <a:extLst>
                  <a:ext uri="{FF2B5EF4-FFF2-40B4-BE49-F238E27FC236}">
                    <a16:creationId xmlns:a16="http://schemas.microsoft.com/office/drawing/2014/main" id="{4FDEDE98-21F3-4535-80AA-CCC5F0DCC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" name="Rectangle 1033">
                <a:extLst>
                  <a:ext uri="{FF2B5EF4-FFF2-40B4-BE49-F238E27FC236}">
                    <a16:creationId xmlns:a16="http://schemas.microsoft.com/office/drawing/2014/main" id="{77365F9B-DFBD-4352-91D7-5D87FA5D0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" name="Rectangle 1034">
                <a:extLst>
                  <a:ext uri="{FF2B5EF4-FFF2-40B4-BE49-F238E27FC236}">
                    <a16:creationId xmlns:a16="http://schemas.microsoft.com/office/drawing/2014/main" id="{F2C399CB-6C65-4F70-B8EA-DF06FEB51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" name="Rectangle 1035">
                <a:extLst>
                  <a:ext uri="{FF2B5EF4-FFF2-40B4-BE49-F238E27FC236}">
                    <a16:creationId xmlns:a16="http://schemas.microsoft.com/office/drawing/2014/main" id="{D21EB42F-292A-4192-894A-2E316AFC1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" name="Rectangle 1036">
                <a:extLst>
                  <a:ext uri="{FF2B5EF4-FFF2-40B4-BE49-F238E27FC236}">
                    <a16:creationId xmlns:a16="http://schemas.microsoft.com/office/drawing/2014/main" id="{BE42C43D-FE96-48A5-A332-539373BC7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" name="Rectangle 1037">
                <a:extLst>
                  <a:ext uri="{FF2B5EF4-FFF2-40B4-BE49-F238E27FC236}">
                    <a16:creationId xmlns:a16="http://schemas.microsoft.com/office/drawing/2014/main" id="{BC00745C-E1D9-4B21-BA9A-B626EBC7E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Rectangle 1038">
                <a:extLst>
                  <a:ext uri="{FF2B5EF4-FFF2-40B4-BE49-F238E27FC236}">
                    <a16:creationId xmlns:a16="http://schemas.microsoft.com/office/drawing/2014/main" id="{F9B616E4-2F77-475C-B4DB-6C68A6D11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" name="Rectangle 1039">
                <a:extLst>
                  <a:ext uri="{FF2B5EF4-FFF2-40B4-BE49-F238E27FC236}">
                    <a16:creationId xmlns:a16="http://schemas.microsoft.com/office/drawing/2014/main" id="{7DA742F0-B5E3-487F-A4CF-F8E7CCB70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" name="Rectangle 1040">
                <a:extLst>
                  <a:ext uri="{FF2B5EF4-FFF2-40B4-BE49-F238E27FC236}">
                    <a16:creationId xmlns:a16="http://schemas.microsoft.com/office/drawing/2014/main" id="{F5628944-5E8D-431E-903D-4ABA25346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" name="Rectangle 1041">
                <a:extLst>
                  <a:ext uri="{FF2B5EF4-FFF2-40B4-BE49-F238E27FC236}">
                    <a16:creationId xmlns:a16="http://schemas.microsoft.com/office/drawing/2014/main" id="{7B7D20C1-E408-43A3-96B8-A613220EC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3" name="Rectangle 1042">
                <a:extLst>
                  <a:ext uri="{FF2B5EF4-FFF2-40B4-BE49-F238E27FC236}">
                    <a16:creationId xmlns:a16="http://schemas.microsoft.com/office/drawing/2014/main" id="{B21AF6EF-CA57-4F02-B173-C01ADE656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Rectangle 1043">
                <a:extLst>
                  <a:ext uri="{FF2B5EF4-FFF2-40B4-BE49-F238E27FC236}">
                    <a16:creationId xmlns:a16="http://schemas.microsoft.com/office/drawing/2014/main" id="{5CE4006D-D272-4EE9-93AD-DCA6C1535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Rectangle 1044">
                <a:extLst>
                  <a:ext uri="{FF2B5EF4-FFF2-40B4-BE49-F238E27FC236}">
                    <a16:creationId xmlns:a16="http://schemas.microsoft.com/office/drawing/2014/main" id="{63A84107-A7AD-45DF-9424-71AE6FCE3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Rectangle 1045">
                <a:extLst>
                  <a:ext uri="{FF2B5EF4-FFF2-40B4-BE49-F238E27FC236}">
                    <a16:creationId xmlns:a16="http://schemas.microsoft.com/office/drawing/2014/main" id="{17559B6B-569E-4DCB-B904-03DF8A270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Rectangle 1046">
                <a:extLst>
                  <a:ext uri="{FF2B5EF4-FFF2-40B4-BE49-F238E27FC236}">
                    <a16:creationId xmlns:a16="http://schemas.microsoft.com/office/drawing/2014/main" id="{6D1EF76C-6BFE-4532-824A-1DD17CB15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" name="Rectangle 1047">
                <a:extLst>
                  <a:ext uri="{FF2B5EF4-FFF2-40B4-BE49-F238E27FC236}">
                    <a16:creationId xmlns:a16="http://schemas.microsoft.com/office/drawing/2014/main" id="{7DD63A2F-66A8-4833-8A67-FBBEAAA09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Rectangle 1048">
                <a:extLst>
                  <a:ext uri="{FF2B5EF4-FFF2-40B4-BE49-F238E27FC236}">
                    <a16:creationId xmlns:a16="http://schemas.microsoft.com/office/drawing/2014/main" id="{B229B816-87E8-4A95-BC0E-3FEC23B58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Rectangle 1049">
                <a:extLst>
                  <a:ext uri="{FF2B5EF4-FFF2-40B4-BE49-F238E27FC236}">
                    <a16:creationId xmlns:a16="http://schemas.microsoft.com/office/drawing/2014/main" id="{B6611726-D303-4117-BD4D-5404A8BCAE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Rectangle 1050">
                <a:extLst>
                  <a:ext uri="{FF2B5EF4-FFF2-40B4-BE49-F238E27FC236}">
                    <a16:creationId xmlns:a16="http://schemas.microsoft.com/office/drawing/2014/main" id="{F504AE48-2A5F-45D8-BE2C-33380D076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2" name="Rectangle 1051">
                <a:extLst>
                  <a:ext uri="{FF2B5EF4-FFF2-40B4-BE49-F238E27FC236}">
                    <a16:creationId xmlns:a16="http://schemas.microsoft.com/office/drawing/2014/main" id="{49028472-39A4-4362-A8D9-2D057C49E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" name="Rectangle 1052">
                <a:extLst>
                  <a:ext uri="{FF2B5EF4-FFF2-40B4-BE49-F238E27FC236}">
                    <a16:creationId xmlns:a16="http://schemas.microsoft.com/office/drawing/2014/main" id="{195EDFBB-5B98-4CE7-95FB-4D0B5C95C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4" name="Rectangle 1053">
                <a:extLst>
                  <a:ext uri="{FF2B5EF4-FFF2-40B4-BE49-F238E27FC236}">
                    <a16:creationId xmlns:a16="http://schemas.microsoft.com/office/drawing/2014/main" id="{22D70D3B-CE00-4B9F-9293-4D3860AB8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" name="Rectangle 1054">
                <a:extLst>
                  <a:ext uri="{FF2B5EF4-FFF2-40B4-BE49-F238E27FC236}">
                    <a16:creationId xmlns:a16="http://schemas.microsoft.com/office/drawing/2014/main" id="{7503DE58-19A9-4BB2-9138-0D1EF50FE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6" name="Rectangle 1055">
                <a:extLst>
                  <a:ext uri="{FF2B5EF4-FFF2-40B4-BE49-F238E27FC236}">
                    <a16:creationId xmlns:a16="http://schemas.microsoft.com/office/drawing/2014/main" id="{4A00B474-FBD4-4E65-8F41-C4C8A7165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7" name="Rectangle 1056">
                <a:extLst>
                  <a:ext uri="{FF2B5EF4-FFF2-40B4-BE49-F238E27FC236}">
                    <a16:creationId xmlns:a16="http://schemas.microsoft.com/office/drawing/2014/main" id="{1DBC2FBF-B8BE-480C-A552-8132471F8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Rectangle 1057">
                <a:extLst>
                  <a:ext uri="{FF2B5EF4-FFF2-40B4-BE49-F238E27FC236}">
                    <a16:creationId xmlns:a16="http://schemas.microsoft.com/office/drawing/2014/main" id="{ACA42414-5591-45FC-8243-4A5B0441F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Содержимое 6"/>
          <p:cNvSpPr>
            <a:spLocks noGrp="1"/>
          </p:cNvSpPr>
          <p:nvPr>
            <p:ph sz="quarter" idx="13"/>
          </p:nvPr>
        </p:nvSpPr>
        <p:spPr>
          <a:xfrm>
            <a:off x="1138238" y="1846263"/>
            <a:ext cx="3856037" cy="4270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Содержимое 6"/>
          <p:cNvSpPr>
            <a:spLocks noGrp="1"/>
          </p:cNvSpPr>
          <p:nvPr>
            <p:ph sz="quarter" idx="14"/>
          </p:nvPr>
        </p:nvSpPr>
        <p:spPr>
          <a:xfrm>
            <a:off x="5071883" y="1837637"/>
            <a:ext cx="3856037" cy="4270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9" name="Дата 2">
            <a:extLst>
              <a:ext uri="{FF2B5EF4-FFF2-40B4-BE49-F238E27FC236}">
                <a16:creationId xmlns:a16="http://schemas.microsoft.com/office/drawing/2014/main" id="{736D4616-F872-49AB-B2A4-AA205D1843D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09477-DC0A-442D-85B8-60B60F874A17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40" name="Нижний колонтитул 3">
            <a:extLst>
              <a:ext uri="{FF2B5EF4-FFF2-40B4-BE49-F238E27FC236}">
                <a16:creationId xmlns:a16="http://schemas.microsoft.com/office/drawing/2014/main" id="{A3C8773C-C22C-49EB-93FF-8672992D96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41" name="Номер слайда 4">
            <a:extLst>
              <a:ext uri="{FF2B5EF4-FFF2-40B4-BE49-F238E27FC236}">
                <a16:creationId xmlns:a16="http://schemas.microsoft.com/office/drawing/2014/main" id="{E873BFB7-5BB1-484C-9D99-E7CB9FD766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7F5A735B-2E53-44A4-BD9A-C707925AB8EE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  <p:extLst>
      <p:ext uri="{BB962C8B-B14F-4D97-AF65-F5344CB8AC3E}">
        <p14:creationId xmlns:p14="http://schemas.microsoft.com/office/powerpoint/2010/main" val="180043613"/>
      </p:ext>
    </p:extLst>
  </p:cSld>
  <p:clrMapOvr>
    <a:masterClrMapping/>
  </p:clrMapOvr>
  <p:transition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7F1E2D78-7E63-49AE-AEFD-FCFD7E6FE47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en-US" altLang="ru-RU"/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8134BE60-799F-4404-BF30-F31A2DF74E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E5C4B7-21C5-4ECB-A1C1-59086DC3C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1E6E2CB-3BC1-4798-991B-00D113756484}" type="datetime1">
              <a:rPr lang="ru-RU"/>
              <a:pPr>
                <a:defRPr/>
              </a:pPr>
              <a:t>09.10.2020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445F6-A814-4471-8D47-FCE59C7CD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Постановка задачи нелинейного программирования. Теорема Куна-Таккера</a:t>
            </a:r>
            <a:br>
              <a:rPr lang="ru-RU"/>
            </a:br>
            <a:r>
              <a:rPr lang="ru-RU"/>
              <a:t>(с) Н.М. Светлов, 2007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1D10F6-4A5E-4827-8B66-C6B608FBC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9922FD57-47CF-4230-B88A-9AD053BA7ADC}" type="slidenum">
              <a:rPr lang="ru-RU" altLang="en-US"/>
              <a:pPr/>
              <a:t>‹#›</a:t>
            </a:fld>
            <a:r>
              <a:rPr lang="ru-RU" altLang="en-US"/>
              <a:t>/?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5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2" r:id="rId12"/>
  </p:sldLayoutIdLst>
  <p:transition>
    <p:cover dir="rd"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png"/><Relationship Id="rId5" Type="http://schemas.openxmlformats.org/officeDocument/2006/relationships/image" Target="../media/image10.wmf"/><Relationship Id="rId10" Type="http://schemas.openxmlformats.org/officeDocument/2006/relationships/image" Target="../media/image14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png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9.png"/><Relationship Id="rId4" Type="http://schemas.openxmlformats.org/officeDocument/2006/relationships/image" Target="../media/image1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1.png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3208A61-C28F-4BC7-9A46-62ABB7250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654175"/>
          </a:xfrm>
        </p:spPr>
        <p:txBody>
          <a:bodyPr/>
          <a:lstStyle/>
          <a:p>
            <a:pPr eaLnBrk="1" hangingPunct="1"/>
            <a:r>
              <a:rPr lang="ru-RU" altLang="ru-RU" sz="2800">
                <a:latin typeface="Tahoma" panose="020B0604030504040204" pitchFamily="34" charset="0"/>
              </a:rPr>
              <a:t>Лекция </a:t>
            </a:r>
            <a:r>
              <a:rPr lang="en-US" altLang="ru-RU" sz="2800">
                <a:latin typeface="Tahoma" panose="020B0604030504040204" pitchFamily="34" charset="0"/>
              </a:rPr>
              <a:t>8</a:t>
            </a:r>
            <a:r>
              <a:rPr lang="ru-RU" altLang="ru-RU" sz="2800">
                <a:latin typeface="Tahoma" panose="020B0604030504040204" pitchFamily="34" charset="0"/>
              </a:rPr>
              <a:t>. </a:t>
            </a:r>
            <a:r>
              <a:rPr lang="ru-RU" altLang="ru-RU" sz="3200"/>
              <a:t>Экономические приложения выпуклого программирования:</a:t>
            </a:r>
            <a:br>
              <a:rPr lang="ru-RU" altLang="ru-RU" sz="3200" b="1"/>
            </a:br>
            <a:r>
              <a:rPr lang="ru-RU" altLang="ru-RU" sz="3200" b="1"/>
              <a:t>числовые модели</a:t>
            </a:r>
            <a:endParaRPr lang="ru-RU" altLang="ru-RU" sz="3200" b="1">
              <a:latin typeface="Tahoma" panose="020B0604030504040204" pitchFamily="34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B16FCDD-B113-41D4-968F-B0422F3B93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9988" y="2949575"/>
            <a:ext cx="7772400" cy="291782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/>
              <a:t>Содержание лекции: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ru-RU" sz="240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ru-RU" altLang="ru-RU" sz="2000">
                <a:hlinkClick r:id="rId3" action="ppaction://hlinksldjump"/>
              </a:rPr>
              <a:t>Градиентные методы решения задач выпуклого программирования</a:t>
            </a:r>
            <a:endParaRPr lang="ru-RU" altLang="ru-RU" sz="200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ru-RU" altLang="ru-RU" sz="2000">
                <a:hlinkClick r:id="rId4" action="ppaction://hlinksldjump"/>
              </a:rPr>
              <a:t>Линеаризация задач математического программирования</a:t>
            </a:r>
            <a:endParaRPr lang="ru-RU" altLang="ru-RU" sz="200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ru-RU" altLang="ru-RU" sz="2000">
                <a:hlinkClick r:id="rId5" action="ppaction://hlinksldjump"/>
              </a:rPr>
              <a:t>Прикладные модели нелинейного программирования</a:t>
            </a:r>
            <a:endParaRPr lang="ru-RU" altLang="ru-RU" sz="2000"/>
          </a:p>
        </p:txBody>
      </p:sp>
      <p:sp>
        <p:nvSpPr>
          <p:cNvPr id="12292" name="Rectangle 1060">
            <a:extLst>
              <a:ext uri="{FF2B5EF4-FFF2-40B4-BE49-F238E27FC236}">
                <a16:creationId xmlns:a16="http://schemas.microsoft.com/office/drawing/2014/main" id="{41B1BA7C-89CF-4410-A882-C5A65DC0C4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</p:spTree>
  </p:cSld>
  <p:clrMapOvr>
    <a:masterClrMapping/>
  </p:clrMapOvr>
  <p:transition>
    <p:cover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AFCA600-DAD3-482B-B322-EFD09831F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>
                <a:latin typeface="Tahoma" panose="020B0604030504040204" pitchFamily="34" charset="0"/>
              </a:rPr>
              <a:t>Литература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842A23E2-4329-4F4C-840B-82E979D55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400" i="1"/>
              <a:t>Шелобаев С.И.</a:t>
            </a:r>
            <a:r>
              <a:rPr lang="ru-RU" altLang="ru-RU" sz="2400"/>
              <a:t> Экономико-математические методы и модели: Учеб. пособие для вузов. — 2-е изд. М.: ЮНИТИ-ДАНА, 2005. — Раздел 4.1.</a:t>
            </a:r>
          </a:p>
          <a:p>
            <a:pPr eaLnBrk="1" hangingPunct="1"/>
            <a:r>
              <a:rPr lang="ru-RU" altLang="ru-RU" sz="2400"/>
              <a:t>Численные методы / Н.С. Бахвалов, Н.П. Жидков, Г.М. Кобельков. — 4-е изд. М.: БИНОМ. Лаборатория знаний, 2006. — Глава 7, §3; глава 2, §15.</a:t>
            </a:r>
          </a:p>
          <a:p>
            <a:pPr eaLnBrk="1" hangingPunct="1"/>
            <a:r>
              <a:rPr lang="ru-RU" altLang="ru-RU" sz="2400"/>
              <a:t>Исследование операций в экономике: Учебн. пособие для вузов / Под ред. </a:t>
            </a:r>
            <a:r>
              <a:rPr lang="ru-RU" altLang="ru-RU" sz="2400" i="1"/>
              <a:t>Н.Ш. Кремера</a:t>
            </a:r>
            <a:r>
              <a:rPr lang="ru-RU" altLang="ru-RU" sz="2400"/>
              <a:t>. М.: Банки и биржи, ЮНИТИ, 1997. — Разделы 11.1, 11.3, 11.4.</a:t>
            </a:r>
            <a:endParaRPr lang="en-US" altLang="ru-RU" sz="2400"/>
          </a:p>
          <a:p>
            <a:pPr eaLnBrk="1" hangingPunct="1"/>
            <a:r>
              <a:rPr lang="ru-RU" altLang="ru-RU" sz="2400" i="1"/>
              <a:t>Семёнов В.М.</a:t>
            </a:r>
            <a:r>
              <a:rPr lang="ru-RU" altLang="ru-RU" sz="2400"/>
              <a:t>, </a:t>
            </a:r>
            <a:r>
              <a:rPr lang="ru-RU" altLang="ru-RU" sz="2400" i="1"/>
              <a:t>Баев И.А.</a:t>
            </a:r>
            <a:r>
              <a:rPr lang="ru-RU" altLang="ru-RU" sz="2400"/>
              <a:t>, </a:t>
            </a:r>
            <a:r>
              <a:rPr lang="ru-RU" altLang="ru-RU" sz="2400" i="1"/>
              <a:t>Терехова С.А.</a:t>
            </a:r>
            <a:r>
              <a:rPr lang="ru-RU" altLang="ru-RU" sz="2400"/>
              <a:t> Экономика предприятий. М.: Центр экономики и маркетинга, 1998.</a:t>
            </a:r>
          </a:p>
        </p:txBody>
      </p:sp>
      <p:sp>
        <p:nvSpPr>
          <p:cNvPr id="13317" name="Rectangle 1060">
            <a:extLst>
              <a:ext uri="{FF2B5EF4-FFF2-40B4-BE49-F238E27FC236}">
                <a16:creationId xmlns:a16="http://schemas.microsoft.com/office/drawing/2014/main" id="{3969A92E-3A1E-4823-ACF6-1F7710DEF8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13316" name="Rectangle 1061">
            <a:extLst>
              <a:ext uri="{FF2B5EF4-FFF2-40B4-BE49-F238E27FC236}">
                <a16:creationId xmlns:a16="http://schemas.microsoft.com/office/drawing/2014/main" id="{D6B973F3-2B71-4036-B294-8E897D29A4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8BCEAD0-7C9A-42C0-A62B-34F913A2083B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2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</p:spTree>
  </p:cSld>
  <p:clrMapOvr>
    <a:masterClrMapping/>
  </p:clrMapOvr>
  <p:transition>
    <p:cover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32845-D45E-4651-96E2-D2EF323B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dirty="0"/>
              <a:t>Градиентные методы решения задач выпуклого программирования</a:t>
            </a:r>
            <a:endParaRPr lang="ru-RU" dirty="0"/>
          </a:p>
        </p:txBody>
      </p:sp>
      <p:graphicFrame>
        <p:nvGraphicFramePr>
          <p:cNvPr id="9" name="Содержимое 8">
            <a:extLst>
              <a:ext uri="{FF2B5EF4-FFF2-40B4-BE49-F238E27FC236}">
                <a16:creationId xmlns:a16="http://schemas.microsoft.com/office/drawing/2014/main" id="{FE5BC632-2E06-4FE0-8116-137C6A5A94E2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367719" y="1837637"/>
          <a:ext cx="4560202" cy="4270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28" name="Rectangle 1060">
            <a:extLst>
              <a:ext uri="{FF2B5EF4-FFF2-40B4-BE49-F238E27FC236}">
                <a16:creationId xmlns:a16="http://schemas.microsoft.com/office/drawing/2014/main" id="{9A7EA3A0-41C3-409A-BF29-430105378C0F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>
          <a:xfrm>
            <a:off x="881063" y="6435725"/>
            <a:ext cx="7019925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1031" name="Rectangle 1061">
            <a:extLst>
              <a:ext uri="{FF2B5EF4-FFF2-40B4-BE49-F238E27FC236}">
                <a16:creationId xmlns:a16="http://schemas.microsoft.com/office/drawing/2014/main" id="{89E408EF-D10A-49F0-9621-A880AFFE650C}"/>
              </a:ext>
            </a:extLst>
          </p:cNvPr>
          <p:cNvSpPr>
            <a:spLocks noGrp="1" noChangeArrowheads="1"/>
          </p:cNvSpPr>
          <p:nvPr>
            <p:ph type="sldNum" sz="quarter" idx="17"/>
          </p:nvPr>
        </p:nvSpPr>
        <p:spPr>
          <a:xfrm>
            <a:off x="6553200" y="6435725"/>
            <a:ext cx="2133600" cy="365125"/>
          </a:xfr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D865378-326C-40AE-ADA8-1E740A9345F5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3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C446C-1370-440A-BBDD-AC137CF8BE52}"/>
              </a:ext>
            </a:extLst>
          </p:cNvPr>
          <p:cNvSpPr txBox="1"/>
          <p:nvPr/>
        </p:nvSpPr>
        <p:spPr>
          <a:xfrm>
            <a:off x="239713" y="665163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8.1</a:t>
            </a:r>
          </a:p>
        </p:txBody>
      </p:sp>
      <p:graphicFrame>
        <p:nvGraphicFramePr>
          <p:cNvPr id="6151" name="Object 3">
            <a:extLst>
              <a:ext uri="{FF2B5EF4-FFF2-40B4-BE49-F238E27FC236}">
                <a16:creationId xmlns:a16="http://schemas.microsoft.com/office/drawing/2014/main" id="{C13536E2-88D3-4263-A2C3-CB512595B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675" y="1798638"/>
          <a:ext cx="3719513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8" imgW="2590560" imgH="2882880" progId="Equation.DSMT4">
                  <p:embed/>
                </p:oleObj>
              </mc:Choice>
              <mc:Fallback>
                <p:oleObj name="Equation" r:id="rId8" imgW="2590560" imgH="2882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1798638"/>
                        <a:ext cx="3719513" cy="440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3" name="Picture 9">
            <a:extLst>
              <a:ext uri="{FF2B5EF4-FFF2-40B4-BE49-F238E27FC236}">
                <a16:creationId xmlns:a16="http://schemas.microsoft.com/office/drawing/2014/main" id="{6FD5A4BB-4919-4B7B-9495-6F9DD7DA6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366713" y="1695450"/>
            <a:ext cx="4159250" cy="46180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11" name="Скругленная прямоугольная выноска 10">
            <a:extLst>
              <a:ext uri="{FF2B5EF4-FFF2-40B4-BE49-F238E27FC236}">
                <a16:creationId xmlns:a16="http://schemas.microsoft.com/office/drawing/2014/main" id="{21136520-966C-47BF-8694-4D49BFBC9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5291138"/>
            <a:ext cx="3255962" cy="1133475"/>
          </a:xfrm>
          <a:prstGeom prst="wedgeRoundRectCallout">
            <a:avLst>
              <a:gd name="adj1" fmla="val 70971"/>
              <a:gd name="adj2" fmla="val -40035"/>
              <a:gd name="adj3" fmla="val 16667"/>
            </a:avLst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cover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C46991-3582-4559-92E2-9A0FBE73E1EF}"/>
              </a:ext>
            </a:extLst>
          </p:cNvPr>
          <p:cNvSpPr txBox="1"/>
          <p:nvPr/>
        </p:nvSpPr>
        <p:spPr>
          <a:xfrm>
            <a:off x="239713" y="252413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8.1</a:t>
            </a:r>
          </a:p>
        </p:txBody>
      </p:sp>
      <p:sp>
        <p:nvSpPr>
          <p:cNvPr id="11" name="Содержимое 9">
            <a:extLst>
              <a:ext uri="{FF2B5EF4-FFF2-40B4-BE49-F238E27FC236}">
                <a16:creationId xmlns:a16="http://schemas.microsoft.com/office/drawing/2014/main" id="{BD2ADAE6-AAFF-4A2A-A4C4-B4CC135C84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2363" y="4621213"/>
            <a:ext cx="3856037" cy="2003425"/>
          </a:xfrm>
        </p:spPr>
        <p:txBody>
          <a:bodyPr rtlCol="0">
            <a:normAutofit fontScale="550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Ограничения исходной ЗМП преобразуются в равенства</a:t>
            </a:r>
          </a:p>
          <a:p>
            <a:pPr marL="914400" lvl="1" indent="-324000" eaLnBrk="1" fontAlgn="auto" hangingPunct="1">
              <a:spcAft>
                <a:spcPts val="0"/>
              </a:spcAft>
              <a:defRPr/>
            </a:pPr>
            <a:r>
              <a:rPr lang="ru-RU" dirty="0"/>
              <a:t>с помощью дополнительных переменных</a:t>
            </a:r>
          </a:p>
          <a:p>
            <a:pPr marL="914400" lvl="1" indent="-324000" eaLnBrk="1" fontAlgn="auto" hangingPunct="1">
              <a:spcAft>
                <a:spcPts val="0"/>
              </a:spcAft>
              <a:defRPr/>
            </a:pPr>
            <a:r>
              <a:rPr lang="ru-RU" dirty="0"/>
              <a:t>условия неотрицательности переменных (если имелись) не преобразуются</a:t>
            </a:r>
          </a:p>
          <a:p>
            <a:pPr marL="914400" lvl="1" indent="-324000" algn="r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00" dirty="0">
                <a:sym typeface="Euclid Math Two"/>
              </a:rPr>
              <a:t> </a:t>
            </a:r>
            <a:r>
              <a:rPr lang="ru-RU" sz="200" dirty="0">
                <a:sym typeface="MT Symbol"/>
              </a:rPr>
              <a:t>  </a:t>
            </a:r>
            <a:r>
              <a:rPr lang="ru-RU" sz="200" dirty="0">
                <a:sym typeface="Symbol"/>
              </a:rPr>
              <a:t></a:t>
            </a:r>
            <a:endParaRPr lang="ru-RU" sz="200" dirty="0"/>
          </a:p>
        </p:txBody>
      </p:sp>
      <p:sp>
        <p:nvSpPr>
          <p:cNvPr id="2055" name="Rectangle 1060">
            <a:extLst>
              <a:ext uri="{FF2B5EF4-FFF2-40B4-BE49-F238E27FC236}">
                <a16:creationId xmlns:a16="http://schemas.microsoft.com/office/drawing/2014/main" id="{011B3D9E-1D09-49FB-AEFB-68594C92DC56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>
          <a:xfrm>
            <a:off x="1038225" y="6356350"/>
            <a:ext cx="6923088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2056" name="Rectangle 1061">
            <a:extLst>
              <a:ext uri="{FF2B5EF4-FFF2-40B4-BE49-F238E27FC236}">
                <a16:creationId xmlns:a16="http://schemas.microsoft.com/office/drawing/2014/main" id="{7139428E-5F9A-4563-B754-149893510843}"/>
              </a:ext>
            </a:extLst>
          </p:cNvPr>
          <p:cNvSpPr>
            <a:spLocks noGrp="1" noChangeArrowheads="1"/>
          </p:cNvSpPr>
          <p:nvPr>
            <p:ph type="sldNum" sz="quarter" idx="17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99FA9B7-59BD-4BFF-B9F3-17C02D60272E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4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graphicFrame>
        <p:nvGraphicFramePr>
          <p:cNvPr id="7174" name="Object 2">
            <a:extLst>
              <a:ext uri="{FF2B5EF4-FFF2-40B4-BE49-F238E27FC236}">
                <a16:creationId xmlns:a16="http://schemas.microsoft.com/office/drawing/2014/main" id="{EB601526-395E-4764-9F34-D51A6E55CB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4463" y="158750"/>
          <a:ext cx="3355975" cy="613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3" imgW="2844800" imgH="5207000" progId="Equation.DSMT4">
                  <p:embed/>
                </p:oleObj>
              </mc:Choice>
              <mc:Fallback>
                <p:oleObj name="Equation" r:id="rId3" imgW="2844800" imgH="5207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158750"/>
                        <a:ext cx="3355975" cy="613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DABF80-1DA0-4E64-9F65-421ED80A2A70}"/>
              </a:ext>
            </a:extLst>
          </p:cNvPr>
          <p:cNvSpPr txBox="1"/>
          <p:nvPr/>
        </p:nvSpPr>
        <p:spPr>
          <a:xfrm>
            <a:off x="1555750" y="252413"/>
            <a:ext cx="3240088" cy="584200"/>
          </a:xfrm>
          <a:prstGeom prst="rect">
            <a:avLst/>
          </a:prstGeom>
          <a:noFill/>
        </p:spPr>
        <p:txBody>
          <a:bodyPr>
            <a:normAutofit fontScale="85000" lnSpcReduction="20000"/>
          </a:bodyPr>
          <a:lstStyle/>
          <a:p>
            <a:pPr algn="ctr">
              <a:defRPr/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Метод наискорейшего спуска</a:t>
            </a:r>
          </a:p>
        </p:txBody>
      </p:sp>
      <p:pic>
        <p:nvPicPr>
          <p:cNvPr id="7176" name="Picture 13">
            <a:extLst>
              <a:ext uri="{FF2B5EF4-FFF2-40B4-BE49-F238E27FC236}">
                <a16:creationId xmlns:a16="http://schemas.microsoft.com/office/drawing/2014/main" id="{D281BA0B-BDF6-4D1E-A39B-C6D0ACC7B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675" y="831850"/>
            <a:ext cx="3954463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>
            <a:extLst>
              <a:ext uri="{FF2B5EF4-FFF2-40B4-BE49-F238E27FC236}">
                <a16:creationId xmlns:a16="http://schemas.microsoft.com/office/drawing/2014/main" id="{6521AB3B-4319-4171-9638-E37F45C35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224463" y="161925"/>
            <a:ext cx="3352800" cy="6134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ver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>
            <a:extLst>
              <a:ext uri="{FF2B5EF4-FFF2-40B4-BE49-F238E27FC236}">
                <a16:creationId xmlns:a16="http://schemas.microsoft.com/office/drawing/2014/main" id="{C22CFD31-DD59-44E7-9404-ADB90953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07975"/>
            <a:ext cx="3846513" cy="1143000"/>
          </a:xfrm>
        </p:spPr>
        <p:txBody>
          <a:bodyPr/>
          <a:lstStyle/>
          <a:p>
            <a:pPr eaLnBrk="1" hangingPunct="1"/>
            <a:r>
              <a:rPr lang="ru-RU" altLang="ru-RU"/>
              <a:t>Замечания</a:t>
            </a:r>
          </a:p>
        </p:txBody>
      </p:sp>
      <p:sp>
        <p:nvSpPr>
          <p:cNvPr id="5" name="Содержимое 4">
            <a:extLst>
              <a:ext uri="{FF2B5EF4-FFF2-40B4-BE49-F238E27FC236}">
                <a16:creationId xmlns:a16="http://schemas.microsoft.com/office/drawing/2014/main" id="{65CA6B2D-694C-420A-A814-5E4E9E3E96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rtlCol="0">
            <a:normAutofit fontScale="550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Процесс решения можно повторять, увеличивая </a:t>
            </a:r>
            <a:r>
              <a:rPr lang="el-GR" dirty="0">
                <a:solidFill>
                  <a:srgbClr val="7F0000"/>
                </a:solidFill>
              </a:rPr>
              <a:t>Μ</a:t>
            </a:r>
            <a:r>
              <a:rPr lang="ru-RU" dirty="0"/>
              <a:t>, чтобы достичь максимальной точности учёта ограничений при приемлемом числе итераций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Метод можно применять и для невыпуклых задач, но тогда нет гарантии отыскания глобального оптимума</a:t>
            </a:r>
          </a:p>
          <a:p>
            <a:pPr marL="914400" lvl="1" indent="-514350" eaLnBrk="1" fontAlgn="auto" hangingPunct="1">
              <a:spcAft>
                <a:spcPts val="0"/>
              </a:spcAft>
              <a:defRPr/>
            </a:pPr>
            <a:r>
              <a:rPr lang="ru-RU" dirty="0"/>
              <a:t>Если число оптимумов определено аналитически и все их удалось найти поиском с разных начальных точек, то глобальный оптимум определён</a:t>
            </a:r>
          </a:p>
          <a:p>
            <a:pPr marL="914400" lvl="1" indent="-514350" eaLnBrk="1" fontAlgn="auto" hangingPunct="1">
              <a:spcAft>
                <a:spcPts val="0"/>
              </a:spcAft>
              <a:defRPr/>
            </a:pPr>
            <a:r>
              <a:rPr lang="ru-RU" dirty="0"/>
              <a:t>Это достигается далеко не всегда</a:t>
            </a:r>
          </a:p>
        </p:txBody>
      </p:sp>
      <p:sp>
        <p:nvSpPr>
          <p:cNvPr id="6" name="Содержимое 5">
            <a:extLst>
              <a:ext uri="{FF2B5EF4-FFF2-40B4-BE49-F238E27FC236}">
                <a16:creationId xmlns:a16="http://schemas.microsoft.com/office/drawing/2014/main" id="{345D1CF6-EA1D-4F4D-9B5A-44AD25DAEA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2063" y="612775"/>
            <a:ext cx="3856037" cy="5495925"/>
          </a:xfrm>
        </p:spPr>
        <p:txBody>
          <a:bodyPr rtlCol="0">
            <a:normAutofit fontScale="550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ru-RU" dirty="0"/>
              <a:t>Выполнение условий окончания поиска не гарантирует достижения окрестности оптимума</a:t>
            </a:r>
          </a:p>
          <a:p>
            <a:pPr marL="914400" lvl="1" indent="-514350" eaLnBrk="1" fontAlgn="auto" hangingPunct="1">
              <a:spcAft>
                <a:spcPts val="0"/>
              </a:spcAft>
              <a:defRPr/>
            </a:pPr>
            <a:r>
              <a:rPr lang="ru-RU" dirty="0"/>
              <a:t>Если задача выпуклая:</a:t>
            </a:r>
          </a:p>
          <a:p>
            <a:pPr marL="1314450" lvl="2" indent="-514350" eaLnBrk="1" fontAlgn="auto" hangingPunct="1">
              <a:spcAft>
                <a:spcPts val="0"/>
              </a:spcAft>
              <a:defRPr/>
            </a:pPr>
            <a:r>
              <a:rPr lang="ru-RU" dirty="0"/>
              <a:t>переменные могут существенно отличаться от оптимальных значений, но отличие значения </a:t>
            </a:r>
            <a:r>
              <a:rPr lang="ru-RU" dirty="0" err="1"/>
              <a:t>ц.ф</a:t>
            </a:r>
            <a:r>
              <a:rPr lang="ru-RU" dirty="0"/>
              <a:t>. от оптимального будет невелико</a:t>
            </a:r>
          </a:p>
          <a:p>
            <a:pPr marL="1314450" lvl="2" indent="-514350" eaLnBrk="1" fontAlgn="auto" hangingPunct="1">
              <a:spcAft>
                <a:spcPts val="0"/>
              </a:spcAft>
              <a:defRPr/>
            </a:pPr>
            <a:r>
              <a:rPr lang="ru-RU" dirty="0"/>
              <a:t>можно повысить вероятность отыскания действительного оптимума, выполнив поиск с разных начальных точек и убедившись, что он сходится к одному и тому же решению</a:t>
            </a:r>
          </a:p>
          <a:p>
            <a:pPr marL="914400" lvl="1" indent="-514350" eaLnBrk="1" fontAlgn="auto" hangingPunct="1">
              <a:spcAft>
                <a:spcPts val="0"/>
              </a:spcAft>
              <a:defRPr/>
            </a:pPr>
            <a:r>
              <a:rPr lang="ru-RU" dirty="0"/>
              <a:t>Если нет, отличие </a:t>
            </a:r>
            <a:r>
              <a:rPr lang="ru-RU" dirty="0" err="1"/>
              <a:t>ц.ф</a:t>
            </a:r>
            <a:r>
              <a:rPr lang="ru-RU" dirty="0"/>
              <a:t>. от оптимального может быть значительным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ru-RU" dirty="0"/>
              <a:t>Существуют и другие градиентные методы</a:t>
            </a:r>
          </a:p>
          <a:p>
            <a:pPr marL="914400" lvl="1" indent="-514350" eaLnBrk="1" fontAlgn="auto" hangingPunct="1">
              <a:spcAft>
                <a:spcPts val="0"/>
              </a:spcAft>
              <a:defRPr/>
            </a:pPr>
            <a:r>
              <a:rPr lang="ru-RU" dirty="0"/>
              <a:t>Метод покоординатного спуска</a:t>
            </a:r>
          </a:p>
          <a:p>
            <a:pPr marL="914400" lvl="1" indent="-514350" eaLnBrk="1" fontAlgn="auto" hangingPunct="1">
              <a:spcAft>
                <a:spcPts val="0"/>
              </a:spcAft>
              <a:defRPr/>
            </a:pPr>
            <a:r>
              <a:rPr lang="ru-RU" dirty="0"/>
              <a:t>Метод сопряжённых градиентов</a:t>
            </a:r>
          </a:p>
          <a:p>
            <a:pPr marL="914400" lvl="1" indent="-514350" eaLnBrk="1" fontAlgn="auto" hangingPunct="1">
              <a:spcAft>
                <a:spcPts val="0"/>
              </a:spcAft>
              <a:defRPr/>
            </a:pPr>
            <a:r>
              <a:rPr lang="ru-RU" dirty="0" err="1"/>
              <a:t>квази-Ньютоновский</a:t>
            </a:r>
            <a:endParaRPr lang="ru-RU" dirty="0"/>
          </a:p>
          <a:p>
            <a:pPr marL="914400" lvl="1" indent="-514350" eaLnBrk="1" fontAlgn="auto" hangingPunct="1">
              <a:spcAft>
                <a:spcPts val="0"/>
              </a:spcAft>
              <a:defRPr/>
            </a:pPr>
            <a:r>
              <a:rPr lang="en-US" i="1" dirty="0"/>
              <a:t>etc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4342" name="Rectangle 1060">
            <a:extLst>
              <a:ext uri="{FF2B5EF4-FFF2-40B4-BE49-F238E27FC236}">
                <a16:creationId xmlns:a16="http://schemas.microsoft.com/office/drawing/2014/main" id="{5938030E-75CD-4A66-9537-2450BA4DE8F6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>
          <a:xfrm>
            <a:off x="1038225" y="6356350"/>
            <a:ext cx="6959600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14343" name="Rectangle 1061">
            <a:extLst>
              <a:ext uri="{FF2B5EF4-FFF2-40B4-BE49-F238E27FC236}">
                <a16:creationId xmlns:a16="http://schemas.microsoft.com/office/drawing/2014/main" id="{55FC688C-697C-4147-A06A-16E40851D80E}"/>
              </a:ext>
            </a:extLst>
          </p:cNvPr>
          <p:cNvSpPr>
            <a:spLocks noGrp="1" noChangeArrowheads="1"/>
          </p:cNvSpPr>
          <p:nvPr>
            <p:ph type="sldNum" sz="quarter" idx="17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F439AF7-AC30-476D-871E-4FA3D0403C1C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5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2A0D2-C723-41E4-BE31-09ABD57D8977}"/>
              </a:ext>
            </a:extLst>
          </p:cNvPr>
          <p:cNvSpPr txBox="1"/>
          <p:nvPr/>
        </p:nvSpPr>
        <p:spPr>
          <a:xfrm>
            <a:off x="239713" y="665163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8.1</a:t>
            </a:r>
          </a:p>
        </p:txBody>
      </p:sp>
    </p:spTree>
  </p:cSld>
  <p:clrMapOvr>
    <a:masterClrMapping/>
  </p:clrMapOvr>
  <p:transition>
    <p:cover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>
            <a:extLst>
              <a:ext uri="{FF2B5EF4-FFF2-40B4-BE49-F238E27FC236}">
                <a16:creationId xmlns:a16="http://schemas.microsoft.com/office/drawing/2014/main" id="{8E943FB1-4558-4F50-8663-26C4237C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07975"/>
            <a:ext cx="7631113" cy="1143000"/>
          </a:xfrm>
        </p:spPr>
        <p:txBody>
          <a:bodyPr/>
          <a:lstStyle/>
          <a:p>
            <a:pPr eaLnBrk="1" hangingPunct="1"/>
            <a:r>
              <a:rPr lang="ru-RU" altLang="ru-RU"/>
              <a:t>Программное обеспечение </a:t>
            </a:r>
          </a:p>
        </p:txBody>
      </p:sp>
      <p:graphicFrame>
        <p:nvGraphicFramePr>
          <p:cNvPr id="8" name="Содержимое 9">
            <a:extLst>
              <a:ext uri="{FF2B5EF4-FFF2-40B4-BE49-F238E27FC236}">
                <a16:creationId xmlns:a16="http://schemas.microsoft.com/office/drawing/2014/main" id="{899CF889-94D3-4875-825B-B4FA1C26437D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1290638" y="1903379"/>
          <a:ext cx="7752843" cy="4270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365" name="Rectangle 1060">
            <a:extLst>
              <a:ext uri="{FF2B5EF4-FFF2-40B4-BE49-F238E27FC236}">
                <a16:creationId xmlns:a16="http://schemas.microsoft.com/office/drawing/2014/main" id="{943BB389-41F4-4434-BE1E-5E6734634CA7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>
          <a:xfrm>
            <a:off x="1341438" y="6356350"/>
            <a:ext cx="6534150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15366" name="Rectangle 1061">
            <a:extLst>
              <a:ext uri="{FF2B5EF4-FFF2-40B4-BE49-F238E27FC236}">
                <a16:creationId xmlns:a16="http://schemas.microsoft.com/office/drawing/2014/main" id="{83EB6E3C-EA9B-4465-AC88-C47037A8E09E}"/>
              </a:ext>
            </a:extLst>
          </p:cNvPr>
          <p:cNvSpPr>
            <a:spLocks noGrp="1" noChangeArrowheads="1"/>
          </p:cNvSpPr>
          <p:nvPr>
            <p:ph type="sldNum" sz="quarter" idx="17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25BC986-69BF-4D43-B7CC-D49F6DD443F2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6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CED84-0878-4A86-8D36-D3BA47E1796F}"/>
              </a:ext>
            </a:extLst>
          </p:cNvPr>
          <p:cNvSpPr txBox="1"/>
          <p:nvPr/>
        </p:nvSpPr>
        <p:spPr>
          <a:xfrm>
            <a:off x="239713" y="665163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8.1</a:t>
            </a:r>
          </a:p>
        </p:txBody>
      </p:sp>
    </p:spTree>
  </p:cSld>
  <p:clrMapOvr>
    <a:masterClrMapping/>
  </p:clrMapOvr>
  <p:transition>
    <p:cover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A6F9E-25C8-4E09-AAB9-3541D00E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dirty="0"/>
              <a:t>Линеаризация задач математического программирования</a:t>
            </a:r>
            <a:endParaRPr lang="ru-RU" dirty="0"/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8AFEFDFC-AD78-4989-8047-D747484DB26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8238" y="1847850"/>
            <a:ext cx="3856037" cy="4146550"/>
          </a:xfrm>
          <a:noFill/>
        </p:spPr>
      </p:pic>
      <p:sp>
        <p:nvSpPr>
          <p:cNvPr id="9" name="Содержимое 8">
            <a:extLst>
              <a:ext uri="{FF2B5EF4-FFF2-40B4-BE49-F238E27FC236}">
                <a16:creationId xmlns:a16="http://schemas.microsoft.com/office/drawing/2014/main" id="{B69FAA0D-AD5B-4839-AC0E-5F7769A0287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2063" y="1809750"/>
            <a:ext cx="3856037" cy="4464050"/>
          </a:xfrm>
        </p:spPr>
        <p:txBody>
          <a:bodyPr rtlCol="0">
            <a:normAutofit fontScale="47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dirty="0"/>
              <a:t>После замены функций </a:t>
            </a:r>
            <a:r>
              <a:rPr lang="ru-RU" i="1" dirty="0" err="1"/>
              <a:t>z</a:t>
            </a:r>
            <a:r>
              <a:rPr lang="ru-RU" dirty="0"/>
              <a:t>(</a:t>
            </a:r>
            <a:r>
              <a:rPr lang="ru-RU" b="1" dirty="0" err="1">
                <a:solidFill>
                  <a:srgbClr val="0000CC"/>
                </a:solidFill>
              </a:rPr>
              <a:t>x</a:t>
            </a:r>
            <a:r>
              <a:rPr lang="ru-RU" dirty="0"/>
              <a:t>) и </a:t>
            </a:r>
            <a:r>
              <a:rPr lang="ru-RU" b="1" dirty="0" err="1"/>
              <a:t>q</a:t>
            </a:r>
            <a:r>
              <a:rPr lang="ru-RU" dirty="0"/>
              <a:t>(</a:t>
            </a:r>
            <a:r>
              <a:rPr lang="ru-RU" b="1" dirty="0" err="1">
                <a:solidFill>
                  <a:srgbClr val="0000CC"/>
                </a:solidFill>
              </a:rPr>
              <a:t>x</a:t>
            </a:r>
            <a:r>
              <a:rPr lang="ru-RU" dirty="0"/>
              <a:t>) кусочно-линейными функциями:</a:t>
            </a:r>
          </a:p>
          <a:p>
            <a:pPr marL="342000" indent="-342000" eaLnBrk="1" fontAlgn="auto" hangingPunct="1">
              <a:spcAft>
                <a:spcPts val="0"/>
              </a:spcAft>
              <a:defRPr/>
            </a:pPr>
            <a:r>
              <a:rPr lang="ru-RU" dirty="0"/>
              <a:t>задачи выпуклого программирования можно решать с помощью обычного симплекс-метода</a:t>
            </a:r>
          </a:p>
          <a:p>
            <a:pPr marL="342000" indent="-342000" eaLnBrk="1" fontAlgn="auto" hangingPunct="1">
              <a:spcAft>
                <a:spcPts val="0"/>
              </a:spcAft>
              <a:defRPr/>
            </a:pPr>
            <a:r>
              <a:rPr lang="ru-RU" dirty="0"/>
              <a:t>некоторые виды невыпуклых задач можно решать с помощью</a:t>
            </a:r>
          </a:p>
          <a:p>
            <a:pPr marL="742050" lvl="1" indent="-342000" eaLnBrk="1" fontAlgn="auto" hangingPunct="1">
              <a:spcAft>
                <a:spcPts val="0"/>
              </a:spcAft>
              <a:defRPr/>
            </a:pPr>
            <a:r>
              <a:rPr lang="ru-RU" dirty="0"/>
              <a:t>целочисленного программирования</a:t>
            </a:r>
          </a:p>
          <a:p>
            <a:pPr marL="742050" lvl="1" indent="-342000" eaLnBrk="1" fontAlgn="auto" hangingPunct="1">
              <a:spcAft>
                <a:spcPts val="0"/>
              </a:spcAft>
              <a:defRPr/>
            </a:pPr>
            <a:r>
              <a:rPr lang="ru-RU" dirty="0"/>
              <a:t>специальной разновидности симплексного метода — сепарабельного программирования</a:t>
            </a:r>
          </a:p>
          <a:p>
            <a:pPr marL="342000" indent="-342000" eaLnBrk="1" fontAlgn="auto" hangingPunct="1">
              <a:spcAft>
                <a:spcPts val="0"/>
              </a:spcAft>
              <a:defRPr/>
            </a:pPr>
            <a:r>
              <a:rPr lang="ru-RU" dirty="0"/>
              <a:t>возникающая при этом ошибка тем меньше, чем меньше длины отрезков кусочно-линейных функций</a:t>
            </a:r>
          </a:p>
          <a:p>
            <a:pPr marL="742050" lvl="1" indent="-342000" eaLnBrk="1" fontAlgn="auto" hangingPunct="1">
              <a:spcAft>
                <a:spcPts val="0"/>
              </a:spcAft>
              <a:defRPr/>
            </a:pPr>
            <a:r>
              <a:rPr lang="ru-RU" dirty="0"/>
              <a:t>зато тем больше будет ограничений в получившейся ЗМП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dirty="0"/>
              <a:t>Процесс линеаризации может оказаться весьма трудоёмким. Задачи со значительным количеством переменных и нелинейных ограничений намного эффективнее решать градиентными методами.</a:t>
            </a:r>
          </a:p>
        </p:txBody>
      </p:sp>
      <p:sp>
        <p:nvSpPr>
          <p:cNvPr id="16390" name="Rectangle 1060">
            <a:extLst>
              <a:ext uri="{FF2B5EF4-FFF2-40B4-BE49-F238E27FC236}">
                <a16:creationId xmlns:a16="http://schemas.microsoft.com/office/drawing/2014/main" id="{3611BE78-366C-4F64-B579-7D910FAA10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>
          <a:xfrm>
            <a:off x="1000125" y="6356350"/>
            <a:ext cx="7100888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16391" name="Rectangle 1061">
            <a:extLst>
              <a:ext uri="{FF2B5EF4-FFF2-40B4-BE49-F238E27FC236}">
                <a16:creationId xmlns:a16="http://schemas.microsoft.com/office/drawing/2014/main" id="{9BEE99A6-70DA-4E78-A88D-EE6E6A53B954}"/>
              </a:ext>
            </a:extLst>
          </p:cNvPr>
          <p:cNvSpPr>
            <a:spLocks noGrp="1" noChangeArrowheads="1"/>
          </p:cNvSpPr>
          <p:nvPr>
            <p:ph type="sldNum" sz="quarter" idx="17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A8CCA54-749B-48E8-94B1-865A35EEFFF1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7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F25D5-B653-4155-B7CE-A5197B82593E}"/>
              </a:ext>
            </a:extLst>
          </p:cNvPr>
          <p:cNvSpPr txBox="1"/>
          <p:nvPr/>
        </p:nvSpPr>
        <p:spPr>
          <a:xfrm>
            <a:off x="239713" y="665163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8.2</a:t>
            </a:r>
          </a:p>
        </p:txBody>
      </p:sp>
    </p:spTree>
  </p:cSld>
  <p:clrMapOvr>
    <a:masterClrMapping/>
  </p:clrMapOvr>
  <p:transition>
    <p:cover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одержимое 10">
            <a:extLst>
              <a:ext uri="{FF2B5EF4-FFF2-40B4-BE49-F238E27FC236}">
                <a16:creationId xmlns:a16="http://schemas.microsoft.com/office/drawing/2014/main" id="{4F05B819-9AFD-4520-80E8-35F4D490E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88" y="320675"/>
            <a:ext cx="4375150" cy="574040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Процесс линеаризации </a:t>
            </a:r>
            <a:r>
              <a:rPr lang="ru-RU" sz="24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выпуклых</a:t>
            </a:r>
            <a:r>
              <a:rPr lang="ru-RU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ограничений</a:t>
            </a:r>
            <a:b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</a:br>
            <a:r>
              <a:rPr lang="ru-RU" sz="14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(на примере ограничения № </a:t>
            </a:r>
            <a:r>
              <a:rPr lang="ru-RU" sz="14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i</a:t>
            </a:r>
            <a:r>
              <a:rPr lang="ru-RU" sz="14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 )</a:t>
            </a:r>
            <a:endParaRPr lang="ru-RU" sz="1800" dirty="0">
              <a:effectLst>
                <a:outerShdw blurRad="38100" dist="38100" dir="2700000" algn="tl">
                  <a:srgbClr val="FFFFFF"/>
                </a:outerShdw>
              </a:effectLst>
              <a:latin typeface="Arial" pitchFamily="34" charset="0"/>
            </a:endParaRP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Выбирается достаточное количество точек </a:t>
            </a:r>
            <a:r>
              <a:rPr lang="ru-RU" sz="18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x</a:t>
            </a:r>
            <a:r>
              <a:rPr lang="ru-RU" sz="1800" i="1" baseline="-2500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ik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таких, что </a:t>
            </a:r>
            <a:r>
              <a:rPr lang="ru-RU" sz="1800" i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q</a:t>
            </a:r>
            <a:r>
              <a:rPr lang="ru-RU" sz="1800" i="1" baseline="-2500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i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(</a:t>
            </a:r>
            <a:r>
              <a:rPr lang="ru-RU" sz="18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x</a:t>
            </a:r>
            <a:r>
              <a:rPr lang="ru-RU" sz="1800" i="1" baseline="-2500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ik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)=</a:t>
            </a:r>
            <a:r>
              <a:rPr lang="ru-RU" sz="1800" i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b</a:t>
            </a:r>
            <a:r>
              <a:rPr lang="ru-RU" sz="1800" i="1" baseline="-2500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i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.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Составляются линейные </a:t>
            </a:r>
            <a:r>
              <a:rPr lang="ru-RU" sz="18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уравнения гиперплоскостей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, проходящих через каждый набор из </a:t>
            </a:r>
            <a:r>
              <a:rPr lang="ru-RU" sz="18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n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ближайших друг к другу точек </a:t>
            </a:r>
            <a:r>
              <a:rPr lang="ru-RU" sz="18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x</a:t>
            </a:r>
            <a:r>
              <a:rPr lang="ru-RU" sz="1800" i="1" baseline="-2500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ik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(</a:t>
            </a:r>
            <a:r>
              <a:rPr lang="ru-RU" sz="18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n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— число переменных исходной задачи).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Если ограничение </a:t>
            </a:r>
            <a:r>
              <a:rPr lang="ru-RU" sz="18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i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 — неравенство, получившиеся линейные уравнения тоже трансформируются в неравенства</a:t>
            </a:r>
          </a:p>
          <a:p>
            <a:pPr marL="914400" lvl="1" indent="-514350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ru-RU" sz="15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таким образом, чтобы </a:t>
            </a:r>
            <a:r>
              <a:rPr lang="en-US" sz="15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(</a:t>
            </a:r>
            <a:r>
              <a:rPr lang="ru-RU" sz="15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почти) все точки, удовлетворяющие новому линейному неравенству, удовлетворяли бы и исходному неравенству </a:t>
            </a:r>
            <a:r>
              <a:rPr lang="ru-RU" sz="15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i</a:t>
            </a:r>
            <a:r>
              <a:rPr lang="ru-RU" sz="15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.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Ограничение </a:t>
            </a:r>
            <a:r>
              <a:rPr lang="ru-RU" sz="1800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i</a:t>
            </a:r>
            <a:r>
              <a:rPr lang="ru-RU" sz="18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заменяется множеством получившихся линейных неравенств.</a:t>
            </a:r>
          </a:p>
        </p:txBody>
      </p:sp>
      <p:sp>
        <p:nvSpPr>
          <p:cNvPr id="3077" name="Rectangle 1060">
            <a:extLst>
              <a:ext uri="{FF2B5EF4-FFF2-40B4-BE49-F238E27FC236}">
                <a16:creationId xmlns:a16="http://schemas.microsoft.com/office/drawing/2014/main" id="{44387986-F58F-427C-AC7C-1535EAAF63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3080" name="Rectangle 1061">
            <a:extLst>
              <a:ext uri="{FF2B5EF4-FFF2-40B4-BE49-F238E27FC236}">
                <a16:creationId xmlns:a16="http://schemas.microsoft.com/office/drawing/2014/main" id="{6B3583A2-B7EC-4387-A9BE-10E4938497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B7DA5D7-8E11-4F3A-ABD4-E37C1CAF4C5C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8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C434D-7444-484C-9458-5817A1FC1BEF}"/>
              </a:ext>
            </a:extLst>
          </p:cNvPr>
          <p:cNvSpPr txBox="1"/>
          <p:nvPr/>
        </p:nvSpPr>
        <p:spPr>
          <a:xfrm>
            <a:off x="473075" y="460375"/>
            <a:ext cx="7985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8.2</a:t>
            </a:r>
          </a:p>
        </p:txBody>
      </p:sp>
      <p:grpSp>
        <p:nvGrpSpPr>
          <p:cNvPr id="11270" name="Группа 14">
            <a:extLst>
              <a:ext uri="{FF2B5EF4-FFF2-40B4-BE49-F238E27FC236}">
                <a16:creationId xmlns:a16="http://schemas.microsoft.com/office/drawing/2014/main" id="{4977AC9A-8647-42FC-99B5-7B83FC9CCD47}"/>
              </a:ext>
            </a:extLst>
          </p:cNvPr>
          <p:cNvGrpSpPr>
            <a:grpSpLocks/>
          </p:cNvGrpSpPr>
          <p:nvPr/>
        </p:nvGrpSpPr>
        <p:grpSpPr bwMode="auto">
          <a:xfrm>
            <a:off x="5573713" y="933450"/>
            <a:ext cx="3346450" cy="2947988"/>
            <a:chOff x="5525311" y="1770434"/>
            <a:chExt cx="3346315" cy="2947481"/>
          </a:xfrm>
        </p:grpSpPr>
        <p:sp>
          <p:nvSpPr>
            <p:cNvPr id="14" name="Скругленная прямоугольная выноска 13">
              <a:extLst>
                <a:ext uri="{FF2B5EF4-FFF2-40B4-BE49-F238E27FC236}">
                  <a16:creationId xmlns:a16="http://schemas.microsoft.com/office/drawing/2014/main" id="{CADD1AFC-6F78-4D1A-8306-F17BFBAB476B}"/>
                </a:ext>
              </a:extLst>
            </p:cNvPr>
            <p:cNvSpPr/>
            <p:nvPr/>
          </p:nvSpPr>
          <p:spPr bwMode="auto">
            <a:xfrm>
              <a:off x="5525311" y="1770434"/>
              <a:ext cx="3346315" cy="2947481"/>
            </a:xfrm>
            <a:prstGeom prst="wedgeRoundRectCallout">
              <a:avLst>
                <a:gd name="adj1" fmla="val -69962"/>
                <a:gd name="adj2" fmla="val -12087"/>
                <a:gd name="adj3" fmla="val 16667"/>
              </a:avLst>
            </a:prstGeom>
            <a:solidFill>
              <a:schemeClr val="bg1">
                <a:lumMod val="85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pPr>
                <a:defRPr/>
              </a:pPr>
              <a:endPara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1274" name="Object 2">
              <a:extLst>
                <a:ext uri="{FF2B5EF4-FFF2-40B4-BE49-F238E27FC236}">
                  <a16:creationId xmlns:a16="http://schemas.microsoft.com/office/drawing/2014/main" id="{CF9E3F23-A682-43A5-8331-0B951B676E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12860" y="1854235"/>
            <a:ext cx="3188915" cy="2776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5" name="Equation" r:id="rId3" imgW="2654300" imgH="2311400" progId="Equation.DSMT4">
                    <p:embed/>
                  </p:oleObj>
                </mc:Choice>
                <mc:Fallback>
                  <p:oleObj name="Equation" r:id="rId3" imgW="2654300" imgH="23114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2860" y="1854235"/>
                          <a:ext cx="3188915" cy="2776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71" name="Object 3">
            <a:extLst>
              <a:ext uri="{FF2B5EF4-FFF2-40B4-BE49-F238E27FC236}">
                <a16:creationId xmlns:a16="http://schemas.microsoft.com/office/drawing/2014/main" id="{34F67614-A7F4-4B04-8148-F98756966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7563" y="4202113"/>
          <a:ext cx="2774950" cy="15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5" imgW="2006600" imgH="1130300" progId="Equation.DSMT4">
                  <p:embed/>
                </p:oleObj>
              </mc:Choice>
              <mc:Fallback>
                <p:oleObj name="Equation" r:id="rId5" imgW="2006600" imgH="1130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563" y="4202113"/>
                        <a:ext cx="2774950" cy="157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Выноска со стрелкой вверх 16">
            <a:extLst>
              <a:ext uri="{FF2B5EF4-FFF2-40B4-BE49-F238E27FC236}">
                <a16:creationId xmlns:a16="http://schemas.microsoft.com/office/drawing/2014/main" id="{1CA8A648-28B3-49E6-8A5A-84BA06218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450" y="3871913"/>
            <a:ext cx="3044825" cy="2052637"/>
          </a:xfrm>
          <a:prstGeom prst="upArrowCallout">
            <a:avLst>
              <a:gd name="adj1" fmla="val 24998"/>
              <a:gd name="adj2" fmla="val 24998"/>
              <a:gd name="adj3" fmla="val 6519"/>
              <a:gd name="adj4" fmla="val 86375"/>
            </a:avLst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cover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4">
            <a:extLst>
              <a:ext uri="{FF2B5EF4-FFF2-40B4-BE49-F238E27FC236}">
                <a16:creationId xmlns:a16="http://schemas.microsoft.com/office/drawing/2014/main" id="{2C15DA69-32A1-49B9-AAEE-983789596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1250" y="1498600"/>
          <a:ext cx="2806700" cy="332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4" imgW="1587500" imgH="1879600" progId="Equation.DSMT4">
                  <p:embed/>
                </p:oleObj>
              </mc:Choice>
              <mc:Fallback>
                <p:oleObj name="Equation" r:id="rId4" imgW="1587500" imgH="1879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1498600"/>
                        <a:ext cx="2806700" cy="332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9" name="Picture 13">
            <a:extLst>
              <a:ext uri="{FF2B5EF4-FFF2-40B4-BE49-F238E27FC236}">
                <a16:creationId xmlns:a16="http://schemas.microsoft.com/office/drawing/2014/main" id="{52F9A293-316A-4F0A-AEE9-9EEDC39AC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3950" y="1495425"/>
            <a:ext cx="2809875" cy="33242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19" name="Содержимое 4">
            <a:extLst>
              <a:ext uri="{FF2B5EF4-FFF2-40B4-BE49-F238E27FC236}">
                <a16:creationId xmlns:a16="http://schemas.microsoft.com/office/drawing/2014/main" id="{2B77EB1D-CE07-4D11-89DA-3A21D1669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88" y="127000"/>
            <a:ext cx="2876550" cy="1371600"/>
          </a:xfrm>
        </p:spPr>
        <p:txBody>
          <a:bodyPr rtlCol="0">
            <a:normAutofit fontScale="62500" lnSpcReduction="20000"/>
          </a:bodyPr>
          <a:lstStyle/>
          <a:p>
            <a:pPr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b="1" i="1" dirty="0"/>
              <a:t>Пример</a:t>
            </a:r>
            <a:r>
              <a:rPr lang="ru-RU" dirty="0"/>
              <a:t> сепарабельного представления невыпуклой области</a:t>
            </a:r>
          </a:p>
        </p:txBody>
      </p:sp>
      <p:sp>
        <p:nvSpPr>
          <p:cNvPr id="4101" name="Rectangle 1060">
            <a:extLst>
              <a:ext uri="{FF2B5EF4-FFF2-40B4-BE49-F238E27FC236}">
                <a16:creationId xmlns:a16="http://schemas.microsoft.com/office/drawing/2014/main" id="{32E7F955-052A-4411-9836-3A0FAC6224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4103" name="Rectangle 1061">
            <a:extLst>
              <a:ext uri="{FF2B5EF4-FFF2-40B4-BE49-F238E27FC236}">
                <a16:creationId xmlns:a16="http://schemas.microsoft.com/office/drawing/2014/main" id="{1915C139-8AA9-49CD-846A-39A2B5BD76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AFD78F-3129-4600-9125-D0FEEE2538E4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9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D0D6F-D3DE-4DC7-B838-F1C20E54AA25}"/>
              </a:ext>
            </a:extLst>
          </p:cNvPr>
          <p:cNvSpPr txBox="1"/>
          <p:nvPr/>
        </p:nvSpPr>
        <p:spPr>
          <a:xfrm>
            <a:off x="473075" y="460375"/>
            <a:ext cx="7985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8.2</a:t>
            </a:r>
          </a:p>
        </p:txBody>
      </p:sp>
      <p:sp>
        <p:nvSpPr>
          <p:cNvPr id="17" name="Выноска со стрелкой вправо 16">
            <a:extLst>
              <a:ext uri="{FF2B5EF4-FFF2-40B4-BE49-F238E27FC236}">
                <a16:creationId xmlns:a16="http://schemas.microsoft.com/office/drawing/2014/main" id="{E61757A0-CA8E-47EA-B0D3-2B899789F04F}"/>
              </a:ext>
            </a:extLst>
          </p:cNvPr>
          <p:cNvSpPr/>
          <p:nvPr/>
        </p:nvSpPr>
        <p:spPr bwMode="auto">
          <a:xfrm>
            <a:off x="1449388" y="4854575"/>
            <a:ext cx="2547937" cy="1263650"/>
          </a:xfrm>
          <a:prstGeom prst="rightArrowCallout">
            <a:avLst>
              <a:gd name="adj1" fmla="val 25000"/>
              <a:gd name="adj2" fmla="val 25000"/>
              <a:gd name="adj3" fmla="val 8846"/>
              <a:gd name="adj4" fmla="val 89786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Выноска со стрелкой вниз 17">
            <a:extLst>
              <a:ext uri="{FF2B5EF4-FFF2-40B4-BE49-F238E27FC236}">
                <a16:creationId xmlns:a16="http://schemas.microsoft.com/office/drawing/2014/main" id="{6D159570-8145-4238-A814-9C0EE865638C}"/>
              </a:ext>
            </a:extLst>
          </p:cNvPr>
          <p:cNvSpPr/>
          <p:nvPr/>
        </p:nvSpPr>
        <p:spPr bwMode="auto">
          <a:xfrm>
            <a:off x="1411288" y="127000"/>
            <a:ext cx="2546350" cy="1390650"/>
          </a:xfrm>
          <a:prstGeom prst="downArrowCallout">
            <a:avLst>
              <a:gd name="adj1" fmla="val 25000"/>
              <a:gd name="adj2" fmla="val 25000"/>
              <a:gd name="adj3" fmla="val 4720"/>
              <a:gd name="adj4" fmla="val 90152"/>
            </a:avLst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298" name="Picture 3">
            <a:extLst>
              <a:ext uri="{FF2B5EF4-FFF2-40B4-BE49-F238E27FC236}">
                <a16:creationId xmlns:a16="http://schemas.microsoft.com/office/drawing/2014/main" id="{71E59204-DCBB-430D-B13D-BDE993CF7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36"/>
          <a:stretch>
            <a:fillRect/>
          </a:stretch>
        </p:blipFill>
        <p:spPr bwMode="auto">
          <a:xfrm>
            <a:off x="4141788" y="0"/>
            <a:ext cx="5002212" cy="422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Содержимое 4">
            <a:extLst>
              <a:ext uri="{FF2B5EF4-FFF2-40B4-BE49-F238E27FC236}">
                <a16:creationId xmlns:a16="http://schemas.microsoft.com/office/drawing/2014/main" id="{4BFCEB7C-89B7-47ED-ACFB-DF68CC35F6DB}"/>
              </a:ext>
            </a:extLst>
          </p:cNvPr>
          <p:cNvSpPr txBox="1">
            <a:spLocks/>
          </p:cNvSpPr>
          <p:nvPr/>
        </p:nvSpPr>
        <p:spPr bwMode="auto">
          <a:xfrm>
            <a:off x="1111250" y="4873625"/>
            <a:ext cx="287655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rmAutofit fontScale="62500" lnSpcReduction="20000"/>
          </a:bodyPr>
          <a:lstStyle/>
          <a:p>
            <a:pPr marL="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ru-RU" sz="3200" b="1" i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Пример</a:t>
            </a:r>
            <a:r>
              <a:rPr lang="ru-RU" sz="32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целочисленного представления невыпуклой области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1A1725-38AE-47EB-A67D-7154C230C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90588"/>
            <a:ext cx="884238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00">
                <a:latin typeface="Tahoma" panose="020B0604030504040204" pitchFamily="34" charset="0"/>
              </a:rPr>
              <a:t>Сепарабельное</a:t>
            </a:r>
            <a:r>
              <a:rPr lang="ru-RU" altLang="ru-RU" sz="100" b="1">
                <a:latin typeface="Tahoma" panose="020B0604030504040204" pitchFamily="34" charset="0"/>
              </a:rPr>
              <a:t> представление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00">
                <a:latin typeface="Tahoma" panose="020B0604030504040204" pitchFamily="34" charset="0"/>
              </a:rPr>
              <a:t>Последнее ограничение «держит» всегда, среднее – только при x3=0, первое – только при x4=0.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00">
                <a:latin typeface="Tahoma" panose="020B0604030504040204" pitchFamily="34" charset="0"/>
              </a:rPr>
              <a:t>"Тысяча" может быть любым числом, превышающим коэффициент при той же переменной в другом уравнении.</a:t>
            </a:r>
            <a:endParaRPr lang="en-US" altLang="ru-RU" sz="100">
              <a:latin typeface="Tahoma" panose="020B0604030504040204" pitchFamily="34" charset="0"/>
            </a:endParaRPr>
          </a:p>
        </p:txBody>
      </p:sp>
      <p:graphicFrame>
        <p:nvGraphicFramePr>
          <p:cNvPr id="12301" name="Object 3">
            <a:extLst>
              <a:ext uri="{FF2B5EF4-FFF2-40B4-BE49-F238E27FC236}">
                <a16:creationId xmlns:a16="http://schemas.microsoft.com/office/drawing/2014/main" id="{FCEF1794-4934-46E5-8CA8-AA2217C98A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8138" y="4360863"/>
          <a:ext cx="4392612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Equation" r:id="rId8" imgW="2641600" imgH="1168400" progId="Equation.DSMT4">
                  <p:embed/>
                </p:oleObj>
              </mc:Choice>
              <mc:Fallback>
                <p:oleObj name="Equation" r:id="rId8" imgW="2641600" imgH="1168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138" y="4360863"/>
                        <a:ext cx="4392612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10" name="Picture 14">
            <a:extLst>
              <a:ext uri="{FF2B5EF4-FFF2-40B4-BE49-F238E27FC236}">
                <a16:creationId xmlns:a16="http://schemas.microsoft.com/office/drawing/2014/main" id="{60F9C1A7-4ED8-4285-80A6-C4DAC43C4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148138" y="4357688"/>
            <a:ext cx="4391025" cy="1943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6" calcmode="lin" valueType="num">
                                      <p:cBhvr override="childStyle">
                                        <p:cTn id="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Заголовок 1">
            <a:extLst>
              <a:ext uri="{FF2B5EF4-FFF2-40B4-BE49-F238E27FC236}">
                <a16:creationId xmlns:a16="http://schemas.microsoft.com/office/drawing/2014/main" id="{9B3C6A4A-AA2A-40C6-AC38-05DFDDC2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/>
              <a:t>Прикладные модели нелинейного программирования</a:t>
            </a:r>
          </a:p>
        </p:txBody>
      </p:sp>
      <p:sp>
        <p:nvSpPr>
          <p:cNvPr id="13315" name="Содержимое 2">
            <a:extLst>
              <a:ext uri="{FF2B5EF4-FFF2-40B4-BE49-F238E27FC236}">
                <a16:creationId xmlns:a16="http://schemas.microsoft.com/office/drawing/2014/main" id="{2EA80C96-0CCC-4519-9463-35E6E9B10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Учёт эффекта масштаба</a:t>
            </a:r>
          </a:p>
          <a:p>
            <a:pPr eaLnBrk="1" hangingPunct="1"/>
            <a:r>
              <a:rPr lang="ru-RU" altLang="ru-RU"/>
              <a:t>Моделирование рынка: зависимость цены от расстояния</a:t>
            </a:r>
          </a:p>
          <a:p>
            <a:pPr eaLnBrk="1" hangingPunct="1"/>
            <a:r>
              <a:rPr lang="ru-RU" altLang="ru-RU"/>
              <a:t>Олигопольные рынки: зависимость цены от объёма поставок</a:t>
            </a:r>
          </a:p>
        </p:txBody>
      </p:sp>
      <p:sp>
        <p:nvSpPr>
          <p:cNvPr id="17413" name="Rectangle 1060">
            <a:extLst>
              <a:ext uri="{FF2B5EF4-FFF2-40B4-BE49-F238E27FC236}">
                <a16:creationId xmlns:a16="http://schemas.microsoft.com/office/drawing/2014/main" id="{DF9F768F-1AC5-494F-9A43-951451D53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17414" name="Rectangle 1061">
            <a:extLst>
              <a:ext uri="{FF2B5EF4-FFF2-40B4-BE49-F238E27FC236}">
                <a16:creationId xmlns:a16="http://schemas.microsoft.com/office/drawing/2014/main" id="{733F344B-C20F-4080-9521-1B8484375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F3D3267-E854-4B83-B16B-C349EFD231D3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10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D73BF-CFC6-4EFC-A50B-988DDEC25751}"/>
              </a:ext>
            </a:extLst>
          </p:cNvPr>
          <p:cNvSpPr txBox="1"/>
          <p:nvPr/>
        </p:nvSpPr>
        <p:spPr>
          <a:xfrm>
            <a:off x="239713" y="947738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</a:t>
            </a:r>
          </a:p>
        </p:txBody>
      </p:sp>
    </p:spTree>
  </p:cSld>
  <p:clrMapOvr>
    <a:masterClrMapping/>
  </p:clrMapOvr>
  <p:transition>
    <p:cover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>
            <a:extLst>
              <a:ext uri="{FF2B5EF4-FFF2-40B4-BE49-F238E27FC236}">
                <a16:creationId xmlns:a16="http://schemas.microsoft.com/office/drawing/2014/main" id="{734107A9-8143-4EC3-B90E-114F28B8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17500"/>
            <a:ext cx="7772400" cy="636588"/>
          </a:xfrm>
        </p:spPr>
        <p:txBody>
          <a:bodyPr rtlCol="0"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ru-RU" sz="3600"/>
              <a:t>Учёт эффекта масштаба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ED3FD6D9-76E2-4D6F-8244-FCAC3667F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88" y="1011238"/>
            <a:ext cx="4443412" cy="5214937"/>
          </a:xfrm>
        </p:spPr>
        <p:txBody>
          <a:bodyPr rtlCol="0">
            <a:normAutofit fontScale="62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dirty="0"/>
              <a:t>Для производства двух видов продукции используется единственный ресурс. Найти план производства, обеспечивающий максимальную прибыль, при следующих условиях: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Цены продуктов – 10 и 20 </a:t>
            </a:r>
            <a:r>
              <a:rPr lang="ru-RU" dirty="0" err="1"/>
              <a:t>у.е</a:t>
            </a:r>
            <a:r>
              <a:rPr lang="ru-RU" dirty="0"/>
              <a:t>.; ресурса – 0,03 </a:t>
            </a:r>
            <a:r>
              <a:rPr lang="ru-RU" dirty="0" err="1"/>
              <a:t>у.е</a:t>
            </a:r>
            <a:r>
              <a:rPr lang="ru-RU" dirty="0"/>
              <a:t>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Расход ресурса на выпуск каждого продукта при объёме выпуска </a:t>
            </a:r>
            <a:r>
              <a:rPr lang="ru-RU" dirty="0">
                <a:solidFill>
                  <a:srgbClr val="FF0000"/>
                </a:solidFill>
              </a:rPr>
              <a:t>100</a:t>
            </a:r>
            <a:r>
              <a:rPr lang="ru-RU" dirty="0"/>
              <a:t> ед. – соответственно 80 и </a:t>
            </a:r>
            <a:r>
              <a:rPr lang="ru-RU" dirty="0">
                <a:solidFill>
                  <a:srgbClr val="00B050"/>
                </a:solidFill>
              </a:rPr>
              <a:t>150</a:t>
            </a:r>
            <a:r>
              <a:rPr lang="ru-RU" dirty="0"/>
              <a:t> ед.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При увеличении объёма производства</a:t>
            </a:r>
            <a:r>
              <a:rPr lang="en-US" dirty="0"/>
              <a:t> </a:t>
            </a:r>
            <a:r>
              <a:rPr lang="ru-RU" dirty="0"/>
              <a:t>первого продукта на 1% </a:t>
            </a:r>
            <a:r>
              <a:rPr lang="ru-RU" i="1" dirty="0"/>
              <a:t>удельный</a:t>
            </a:r>
            <a:r>
              <a:rPr lang="ru-RU" dirty="0"/>
              <a:t> расход ресурса возрастает на 0,</a:t>
            </a:r>
            <a:r>
              <a:rPr lang="en-US" dirty="0"/>
              <a:t>0</a:t>
            </a:r>
            <a:r>
              <a:rPr lang="ru-RU" dirty="0"/>
              <a:t>5%, второго – на </a:t>
            </a:r>
            <a:r>
              <a:rPr lang="ru-RU" dirty="0">
                <a:solidFill>
                  <a:srgbClr val="0070C0"/>
                </a:solidFill>
              </a:rPr>
              <a:t>0,1</a:t>
            </a:r>
            <a:r>
              <a:rPr lang="ru-RU" dirty="0"/>
              <a:t>%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Минимально возможный объём производства продуктов – соответственно 90 и 80 ед.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Имеется 100000 ед. ресурса</a:t>
            </a:r>
          </a:p>
        </p:txBody>
      </p:sp>
      <p:sp>
        <p:nvSpPr>
          <p:cNvPr id="18438" name="Rectangle 1060">
            <a:extLst>
              <a:ext uri="{FF2B5EF4-FFF2-40B4-BE49-F238E27FC236}">
                <a16:creationId xmlns:a16="http://schemas.microsoft.com/office/drawing/2014/main" id="{26E4357B-72E9-4763-8C92-5716E0EA7E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18439" name="Rectangle 1061">
            <a:extLst>
              <a:ext uri="{FF2B5EF4-FFF2-40B4-BE49-F238E27FC236}">
                <a16:creationId xmlns:a16="http://schemas.microsoft.com/office/drawing/2014/main" id="{6F54D5F8-CF1D-439B-ABB2-97A40E03A8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5AE51EF-B344-4812-B8EE-E4F080492F0C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11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D8F2D-C3B8-4EF2-84C1-DD1624D16C05}"/>
              </a:ext>
            </a:extLst>
          </p:cNvPr>
          <p:cNvSpPr txBox="1"/>
          <p:nvPr/>
        </p:nvSpPr>
        <p:spPr>
          <a:xfrm>
            <a:off x="239713" y="947738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</a:t>
            </a:r>
          </a:p>
        </p:txBody>
      </p:sp>
      <p:sp useBgFill="1">
        <p:nvSpPr>
          <p:cNvPr id="9" name="Содержимое 2">
            <a:extLst>
              <a:ext uri="{FF2B5EF4-FFF2-40B4-BE49-F238E27FC236}">
                <a16:creationId xmlns:a16="http://schemas.microsoft.com/office/drawing/2014/main" id="{3B74CCE5-C071-4BB9-B71C-36DE69221BDA}"/>
              </a:ext>
            </a:extLst>
          </p:cNvPr>
          <p:cNvSpPr txBox="1">
            <a:spLocks/>
          </p:cNvSpPr>
          <p:nvPr/>
        </p:nvSpPr>
        <p:spPr bwMode="auto">
          <a:xfrm>
            <a:off x="5727700" y="996950"/>
            <a:ext cx="3244850" cy="5214938"/>
          </a:xfrm>
          <a:prstGeom prst="rect">
            <a:avLst/>
          </a:prstGeom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 fontScale="62500" lnSpcReduction="20000"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ru-RU" sz="28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Удельный расход ресурса</a:t>
            </a: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при выпуске 100 ед. продукта 1: 80/100 = 0,8 ед.р./ед.пр.1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При выпуске 101 ед.: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0,8*1,0005 = 0,8004 ед.р./ед.пр.1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Валовые затраты при выпуске 101 ед.пр.1: 0,8004·101=80,8404 ед.р.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endParaRPr lang="ru-RU" sz="2800" kern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При выпуске 100 ед. продукта 2: 150/100 = </a:t>
            </a:r>
            <a:r>
              <a:rPr lang="ru-RU" sz="29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1,5</a:t>
            </a: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ед.р./ед.пр.2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При выпуске 101 ед.: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1,5*</a:t>
            </a:r>
            <a:r>
              <a:rPr lang="ru-RU" sz="29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1,001</a:t>
            </a: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= 1,5015 ед.р./ед.пр.2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ru-RU" sz="2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Валовые затраты при выпуске 101 ед.пр.2: 1,5015·101=151,6515 ед.р.</a:t>
            </a: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endParaRPr lang="ru-RU" sz="2800" kern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endParaRPr lang="ru-RU" sz="2800" kern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</p:spTree>
  </p:cSld>
  <p:clrMapOvr>
    <a:masterClrMapping/>
  </p:clrMapOvr>
  <p:transition>
    <p:cover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Заголовок 1">
            <a:extLst>
              <a:ext uri="{FF2B5EF4-FFF2-40B4-BE49-F238E27FC236}">
                <a16:creationId xmlns:a16="http://schemas.microsoft.com/office/drawing/2014/main" id="{BBDD8B1A-E3C2-425F-AF46-16E804C2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17500"/>
            <a:ext cx="7772400" cy="636588"/>
          </a:xfrm>
        </p:spPr>
        <p:txBody>
          <a:bodyPr rtlCol="0"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ru-RU" sz="3600"/>
              <a:t>Учёт эффекта масштаба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AA1654B9-4080-4C58-911B-C3984AAED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88" y="1011238"/>
            <a:ext cx="4443412" cy="5214937"/>
          </a:xfrm>
        </p:spPr>
        <p:txBody>
          <a:bodyPr rtlCol="0">
            <a:normAutofit fontScale="62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dirty="0"/>
              <a:t>Для производства двух видов продукции используется единственный ресурс. Найти план производства, обеспечивающий максимальную прибыль, при следующих условиях: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Цены продуктов – 10 и 20 </a:t>
            </a:r>
            <a:r>
              <a:rPr lang="ru-RU" dirty="0" err="1"/>
              <a:t>у.е</a:t>
            </a:r>
            <a:r>
              <a:rPr lang="ru-RU" dirty="0"/>
              <a:t>.; ресурса – 0,03 </a:t>
            </a:r>
            <a:r>
              <a:rPr lang="ru-RU" dirty="0" err="1"/>
              <a:t>у.е</a:t>
            </a:r>
            <a:r>
              <a:rPr lang="ru-RU" dirty="0"/>
              <a:t>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Расход ресурса на выпуск каждого продукта при объёме выпуска </a:t>
            </a:r>
            <a:r>
              <a:rPr lang="ru-RU" dirty="0">
                <a:solidFill>
                  <a:srgbClr val="FF0000"/>
                </a:solidFill>
              </a:rPr>
              <a:t>100</a:t>
            </a:r>
            <a:r>
              <a:rPr lang="ru-RU" dirty="0"/>
              <a:t> ед. – соответственно 80 и </a:t>
            </a:r>
            <a:r>
              <a:rPr lang="ru-RU" dirty="0">
                <a:solidFill>
                  <a:srgbClr val="00B050"/>
                </a:solidFill>
              </a:rPr>
              <a:t>150</a:t>
            </a:r>
            <a:r>
              <a:rPr lang="ru-RU" dirty="0"/>
              <a:t> ед.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При увеличении объёма производства</a:t>
            </a:r>
            <a:r>
              <a:rPr lang="en-US" dirty="0"/>
              <a:t> </a:t>
            </a:r>
            <a:r>
              <a:rPr lang="ru-RU" dirty="0"/>
              <a:t>первого продукта на 1% </a:t>
            </a:r>
            <a:r>
              <a:rPr lang="ru-RU" i="1" dirty="0"/>
              <a:t>удельный</a:t>
            </a:r>
            <a:r>
              <a:rPr lang="ru-RU" dirty="0"/>
              <a:t> расход ресурса возрастает на 0,</a:t>
            </a:r>
            <a:r>
              <a:rPr lang="en-US" dirty="0"/>
              <a:t>0</a:t>
            </a:r>
            <a:r>
              <a:rPr lang="ru-RU" dirty="0"/>
              <a:t>5%, второго – на </a:t>
            </a:r>
            <a:r>
              <a:rPr lang="ru-RU" dirty="0">
                <a:solidFill>
                  <a:srgbClr val="0070C0"/>
                </a:solidFill>
              </a:rPr>
              <a:t>0,1</a:t>
            </a:r>
            <a:r>
              <a:rPr lang="ru-RU" dirty="0"/>
              <a:t>%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Минимально возможный объём производства продуктов – соответственно 90 и 80 ед.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Имеется 100000 ед. ресурса</a:t>
            </a:r>
          </a:p>
        </p:txBody>
      </p:sp>
      <p:sp>
        <p:nvSpPr>
          <p:cNvPr id="5128" name="Rectangle 1060">
            <a:extLst>
              <a:ext uri="{FF2B5EF4-FFF2-40B4-BE49-F238E27FC236}">
                <a16:creationId xmlns:a16="http://schemas.microsoft.com/office/drawing/2014/main" id="{A87E1C23-0094-436F-A91F-192230126C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5129" name="Rectangle 1061">
            <a:extLst>
              <a:ext uri="{FF2B5EF4-FFF2-40B4-BE49-F238E27FC236}">
                <a16:creationId xmlns:a16="http://schemas.microsoft.com/office/drawing/2014/main" id="{0EA6D831-414F-4BF6-981A-7E8131DA42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6C25C4F-5545-40D0-A100-A9BBCFC71741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12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37832-0E7A-479E-B14A-39F8B1F4B600}"/>
              </a:ext>
            </a:extLst>
          </p:cNvPr>
          <p:cNvSpPr txBox="1"/>
          <p:nvPr/>
        </p:nvSpPr>
        <p:spPr>
          <a:xfrm>
            <a:off x="239713" y="947738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</a:t>
            </a:r>
          </a:p>
        </p:txBody>
      </p:sp>
      <p:graphicFrame>
        <p:nvGraphicFramePr>
          <p:cNvPr id="15367" name="Object 2">
            <a:extLst>
              <a:ext uri="{FF2B5EF4-FFF2-40B4-BE49-F238E27FC236}">
                <a16:creationId xmlns:a16="http://schemas.microsoft.com/office/drawing/2014/main" id="{87CB4A64-FA20-4BC9-867A-B248B07A2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4488" y="2017713"/>
          <a:ext cx="3613150" cy="318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3" imgW="1638300" imgH="1447800" progId="Equation.DSMT4">
                  <p:embed/>
                </p:oleObj>
              </mc:Choice>
              <mc:Fallback>
                <p:oleObj name="Equation" r:id="rId3" imgW="1638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88" y="2017713"/>
                        <a:ext cx="3613150" cy="318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6" name="Picture 5">
            <a:extLst>
              <a:ext uri="{FF2B5EF4-FFF2-40B4-BE49-F238E27FC236}">
                <a16:creationId xmlns:a16="http://schemas.microsoft.com/office/drawing/2014/main" id="{4264236D-2D84-4683-AB02-E795F1953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48300" y="2019300"/>
            <a:ext cx="3609975" cy="31908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8" name="Скругленная прямоугольная выноска 7">
            <a:extLst>
              <a:ext uri="{FF2B5EF4-FFF2-40B4-BE49-F238E27FC236}">
                <a16:creationId xmlns:a16="http://schemas.microsoft.com/office/drawing/2014/main" id="{3853411E-AAFC-4C06-A53D-E1B5546731E2}"/>
              </a:ext>
            </a:extLst>
          </p:cNvPr>
          <p:cNvSpPr/>
          <p:nvPr/>
        </p:nvSpPr>
        <p:spPr bwMode="auto">
          <a:xfrm>
            <a:off x="6916738" y="3784600"/>
            <a:ext cx="1798637" cy="744538"/>
          </a:xfrm>
          <a:prstGeom prst="wedgeRoundRectCallout">
            <a:avLst>
              <a:gd name="adj1" fmla="val -21053"/>
              <a:gd name="adj2" fmla="val -78013"/>
              <a:gd name="adj3" fmla="val 16667"/>
            </a:avLst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>
            <a:normAutofit/>
          </a:bodyPr>
          <a:lstStyle/>
          <a:p>
            <a:pPr>
              <a:defRPr/>
            </a:pP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0,1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)·</a:t>
            </a:r>
            <a:r>
              <a:rPr lang="en-US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1,50</a:t>
            </a:r>
            <a:endParaRPr lang="ru-RU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>
            <a:extLst>
              <a:ext uri="{FF2B5EF4-FFF2-40B4-BE49-F238E27FC236}">
                <a16:creationId xmlns:a16="http://schemas.microsoft.com/office/drawing/2014/main" id="{422F27CF-BBAB-4D7F-A1E8-7824B136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17500"/>
            <a:ext cx="7772400" cy="636588"/>
          </a:xfrm>
        </p:spPr>
        <p:txBody>
          <a:bodyPr rtlCol="0"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ru-RU" sz="3600"/>
              <a:t>Учёт эффекта масштаба</a:t>
            </a:r>
          </a:p>
        </p:txBody>
      </p:sp>
      <p:sp>
        <p:nvSpPr>
          <p:cNvPr id="16387" name="Содержимое 2">
            <a:extLst>
              <a:ext uri="{FF2B5EF4-FFF2-40B4-BE49-F238E27FC236}">
                <a16:creationId xmlns:a16="http://schemas.microsoft.com/office/drawing/2014/main" id="{5B6ED589-88C8-4D91-B36F-A1246EFA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88" y="1828800"/>
            <a:ext cx="7659687" cy="43973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ru-RU" altLang="ru-RU" b="1"/>
              <a:t>Вывод формулы</a:t>
            </a:r>
            <a:r>
              <a:rPr lang="ru-RU" altLang="ru-RU"/>
              <a:t> (100</a:t>
            </a:r>
            <a:r>
              <a:rPr lang="ru-RU" altLang="ru-RU" baseline="30000"/>
              <a:t>-0,1</a:t>
            </a:r>
            <a:r>
              <a:rPr lang="ru-RU" altLang="ru-RU"/>
              <a:t>)·1,50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ru-RU" altLang="ru-RU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ru-RU" altLang="ru-RU"/>
              <a:t>Известно, что </a:t>
            </a:r>
            <a:r>
              <a:rPr lang="ru-RU" altLang="ru-RU" i="1">
                <a:solidFill>
                  <a:srgbClr val="7030A0"/>
                </a:solidFill>
              </a:rPr>
              <a:t>a</a:t>
            </a:r>
            <a:r>
              <a:rPr lang="ru-RU" altLang="ru-RU"/>
              <a:t>·</a:t>
            </a:r>
            <a:r>
              <a:rPr lang="ru-RU" altLang="ru-RU" i="1">
                <a:solidFill>
                  <a:srgbClr val="0000CC"/>
                </a:solidFill>
              </a:rPr>
              <a:t>x</a:t>
            </a:r>
            <a:r>
              <a:rPr lang="ru-RU" altLang="ru-RU" baseline="-25000">
                <a:solidFill>
                  <a:srgbClr val="0000CC"/>
                </a:solidFill>
              </a:rPr>
              <a:t>2</a:t>
            </a:r>
            <a:r>
              <a:rPr lang="ru-RU" altLang="ru-RU" baseline="30000"/>
              <a:t>0,1</a:t>
            </a:r>
            <a:r>
              <a:rPr lang="ru-RU" altLang="ru-RU"/>
              <a:t> = 1,5 при </a:t>
            </a:r>
            <a:r>
              <a:rPr lang="ru-RU" altLang="ru-RU" i="1">
                <a:solidFill>
                  <a:srgbClr val="0000CC"/>
                </a:solidFill>
              </a:rPr>
              <a:t>x</a:t>
            </a:r>
            <a:r>
              <a:rPr lang="ru-RU" altLang="ru-RU" baseline="-25000">
                <a:solidFill>
                  <a:srgbClr val="0000CC"/>
                </a:solidFill>
              </a:rPr>
              <a:t>2</a:t>
            </a:r>
            <a:r>
              <a:rPr lang="ru-RU" altLang="ru-RU"/>
              <a:t> = 100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ru-RU" altLang="ru-RU"/>
              <a:t>Найти </a:t>
            </a:r>
            <a:r>
              <a:rPr lang="ru-RU" altLang="ru-RU" i="1">
                <a:solidFill>
                  <a:srgbClr val="7030A0"/>
                </a:solidFill>
              </a:rPr>
              <a:t>a</a:t>
            </a:r>
            <a:r>
              <a:rPr lang="ru-RU" altLang="ru-RU"/>
              <a:t>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ru-RU" altLang="ru-RU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ru-RU" altLang="ru-RU" i="1">
                <a:solidFill>
                  <a:srgbClr val="7030A0"/>
                </a:solidFill>
              </a:rPr>
              <a:t>a</a:t>
            </a:r>
            <a:r>
              <a:rPr lang="ru-RU" altLang="ru-RU"/>
              <a:t> = 1,5 / (</a:t>
            </a:r>
            <a:r>
              <a:rPr lang="ru-RU" altLang="ru-RU" i="1">
                <a:solidFill>
                  <a:srgbClr val="0000CC"/>
                </a:solidFill>
              </a:rPr>
              <a:t>x</a:t>
            </a:r>
            <a:r>
              <a:rPr lang="ru-RU" altLang="ru-RU" baseline="-25000">
                <a:solidFill>
                  <a:srgbClr val="0000CC"/>
                </a:solidFill>
              </a:rPr>
              <a:t>2</a:t>
            </a:r>
            <a:r>
              <a:rPr lang="ru-RU" altLang="ru-RU" baseline="30000"/>
              <a:t>0,1</a:t>
            </a:r>
            <a:r>
              <a:rPr lang="ru-RU" altLang="ru-RU"/>
              <a:t>) = 1,5·100</a:t>
            </a:r>
            <a:r>
              <a:rPr lang="ru-RU" altLang="ru-RU" baseline="30000"/>
              <a:t>-0,1</a:t>
            </a:r>
            <a:endParaRPr lang="ru-RU" altLang="ru-RU"/>
          </a:p>
        </p:txBody>
      </p:sp>
      <p:sp>
        <p:nvSpPr>
          <p:cNvPr id="19461" name="Rectangle 1060">
            <a:extLst>
              <a:ext uri="{FF2B5EF4-FFF2-40B4-BE49-F238E27FC236}">
                <a16:creationId xmlns:a16="http://schemas.microsoft.com/office/drawing/2014/main" id="{8CF86E60-11BC-4388-9D4E-9E4824221A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19462" name="Rectangle 1061">
            <a:extLst>
              <a:ext uri="{FF2B5EF4-FFF2-40B4-BE49-F238E27FC236}">
                <a16:creationId xmlns:a16="http://schemas.microsoft.com/office/drawing/2014/main" id="{2801FF57-DFCB-4817-9A09-BF1158A4B9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9A766BA-4D15-40D1-BE41-FAA13A3F127B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13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26B8D-F3A8-4131-9A84-0958D36F8225}"/>
              </a:ext>
            </a:extLst>
          </p:cNvPr>
          <p:cNvSpPr txBox="1"/>
          <p:nvPr/>
        </p:nvSpPr>
        <p:spPr>
          <a:xfrm>
            <a:off x="239713" y="947738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</a:t>
            </a:r>
          </a:p>
        </p:txBody>
      </p:sp>
    </p:spTree>
  </p:cSld>
  <p:clrMapOvr>
    <a:masterClrMapping/>
  </p:clrMapOvr>
  <p:transition>
    <p:cover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47CB10-E25A-4AAA-A24F-A3E5B64EFE3E}"/>
              </a:ext>
            </a:extLst>
          </p:cNvPr>
          <p:cNvSpPr txBox="1"/>
          <p:nvPr/>
        </p:nvSpPr>
        <p:spPr>
          <a:xfrm>
            <a:off x="239713" y="947738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</a:t>
            </a:r>
          </a:p>
        </p:txBody>
      </p:sp>
      <p:sp>
        <p:nvSpPr>
          <p:cNvPr id="20484" name="Rectangle 1060">
            <a:extLst>
              <a:ext uri="{FF2B5EF4-FFF2-40B4-BE49-F238E27FC236}">
                <a16:creationId xmlns:a16="http://schemas.microsoft.com/office/drawing/2014/main" id="{BF232D7C-EF8F-495C-8D01-C9D309EB20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71475" y="6376988"/>
            <a:ext cx="6324600" cy="457200"/>
          </a:xfrm>
        </p:spPr>
        <p:txBody>
          <a:bodyPr/>
          <a:lstStyle/>
          <a:p>
            <a:pPr>
              <a:defRPr/>
            </a:pPr>
            <a:r>
              <a:rPr lang="ru-RU"/>
              <a:t>Экономические приложения выпуклого программирования: числовые модели</a:t>
            </a:r>
            <a:br>
              <a:rPr lang="ru-RU"/>
            </a:br>
            <a:r>
              <a:rPr lang="ru-RU"/>
              <a:t>© Н.М. Светлов, 2007-2011</a:t>
            </a:r>
          </a:p>
        </p:txBody>
      </p:sp>
      <p:sp>
        <p:nvSpPr>
          <p:cNvPr id="20485" name="Rectangle 1061">
            <a:extLst>
              <a:ext uri="{FF2B5EF4-FFF2-40B4-BE49-F238E27FC236}">
                <a16:creationId xmlns:a16="http://schemas.microsoft.com/office/drawing/2014/main" id="{D9E93A65-2422-43A8-9E00-9DCF517C22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F418194-2C64-40F4-8585-C1E1861F1C63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14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pic>
        <p:nvPicPr>
          <p:cNvPr id="17413" name="Picture 7">
            <a:extLst>
              <a:ext uri="{FF2B5EF4-FFF2-40B4-BE49-F238E27FC236}">
                <a16:creationId xmlns:a16="http://schemas.microsoft.com/office/drawing/2014/main" id="{9B9DDC40-B7CF-4D78-877A-2E5CD2E56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4763"/>
            <a:ext cx="6619875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5">
            <a:extLst>
              <a:ext uri="{FF2B5EF4-FFF2-40B4-BE49-F238E27FC236}">
                <a16:creationId xmlns:a16="http://schemas.microsoft.com/office/drawing/2014/main" id="{AB0AE847-4577-419B-A05E-E02980194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938" y="476250"/>
            <a:ext cx="3421062" cy="3024188"/>
          </a:xfrm>
          <a:prstGeom prst="rect">
            <a:avLst/>
          </a:prstGeom>
          <a:solidFill>
            <a:schemeClr val="accent1">
              <a:alpha val="784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over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Заголовок 1">
            <a:extLst>
              <a:ext uri="{FF2B5EF4-FFF2-40B4-BE49-F238E27FC236}">
                <a16:creationId xmlns:a16="http://schemas.microsoft.com/office/drawing/2014/main" id="{072A26D3-011A-48C2-867D-C7A3F3ED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17500"/>
            <a:ext cx="7772400" cy="6365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/>
              <a:t>Зависимость цены</a:t>
            </a:r>
            <a:br>
              <a:rPr lang="ru-RU" sz="3600"/>
            </a:br>
            <a:r>
              <a:rPr lang="ru-RU" sz="3600"/>
              <a:t>от расстояния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C2FA1DE5-A045-476D-B0BD-7124437F2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88" y="1352550"/>
            <a:ext cx="4443412" cy="5048250"/>
          </a:xfrm>
        </p:spPr>
        <p:txBody>
          <a:bodyPr rtlCol="0">
            <a:normAutofit fontScale="5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dirty="0"/>
              <a:t>Для производства двух видов продукции используется единственный ресурс. Найти план производства, обеспечивающий максимальную прибыль, при следующих условиях:</a:t>
            </a:r>
            <a:endParaRPr lang="en-US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Продукция реализуется на заключённой в окружность площади, пропорциональной объёму производства, из расчёта 15 и 20 единиц продукции первого и второго вида на 1 км</a:t>
            </a:r>
            <a:r>
              <a:rPr lang="ru-RU" baseline="30000" dirty="0"/>
              <a:t>2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Доставка к местам реализации осуществляется по прямой согласно тарифу 1,5 </a:t>
            </a:r>
            <a:r>
              <a:rPr lang="ru-RU" dirty="0" err="1"/>
              <a:t>у.е</a:t>
            </a:r>
            <a:r>
              <a:rPr lang="ru-RU" dirty="0"/>
              <a:t>. за 1 км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Цена реализации продукции первого вида растёт с расстоянием согласно закону (5+0,5</a:t>
            </a:r>
            <a:r>
              <a:rPr lang="ru-RU" i="1" dirty="0"/>
              <a:t>d</a:t>
            </a:r>
            <a:r>
              <a:rPr lang="ru-RU" dirty="0"/>
              <a:t>), а второго – (10+0,5d) </a:t>
            </a:r>
            <a:r>
              <a:rPr lang="ru-RU" dirty="0" err="1"/>
              <a:t>у.е</a:t>
            </a:r>
            <a:r>
              <a:rPr lang="ru-RU" dirty="0"/>
              <a:t>., где </a:t>
            </a:r>
            <a:r>
              <a:rPr lang="ru-RU" i="1" dirty="0" err="1"/>
              <a:t>d</a:t>
            </a:r>
            <a:r>
              <a:rPr lang="ru-RU" dirty="0"/>
              <a:t> – расстояние в километрах.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Затраты ресурса на продукцию – 10 и 25 единиц.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Имеется 10 млн. единиц ресурса.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6151" name="Rectangle 1060">
            <a:extLst>
              <a:ext uri="{FF2B5EF4-FFF2-40B4-BE49-F238E27FC236}">
                <a16:creationId xmlns:a16="http://schemas.microsoft.com/office/drawing/2014/main" id="{6A4F938F-689A-499A-99D8-4860BC0161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6152" name="Rectangle 1061">
            <a:extLst>
              <a:ext uri="{FF2B5EF4-FFF2-40B4-BE49-F238E27FC236}">
                <a16:creationId xmlns:a16="http://schemas.microsoft.com/office/drawing/2014/main" id="{5C0390D4-F3C5-4E15-9793-E761C6410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BF8281D-AC49-4746-9DAF-07BA90498677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15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02692-E2A8-4E92-94A3-4426AAF0648F}"/>
              </a:ext>
            </a:extLst>
          </p:cNvPr>
          <p:cNvSpPr txBox="1"/>
          <p:nvPr/>
        </p:nvSpPr>
        <p:spPr>
          <a:xfrm>
            <a:off x="239713" y="947738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</a:t>
            </a:r>
          </a:p>
        </p:txBody>
      </p:sp>
      <p:graphicFrame>
        <p:nvGraphicFramePr>
          <p:cNvPr id="18439" name="Object 3">
            <a:extLst>
              <a:ext uri="{FF2B5EF4-FFF2-40B4-BE49-F238E27FC236}">
                <a16:creationId xmlns:a16="http://schemas.microsoft.com/office/drawing/2014/main" id="{41C7F56D-605B-4C71-AA94-F121506F9E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2638" y="1158875"/>
          <a:ext cx="2852737" cy="506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3" imgW="2171700" imgH="3860800" progId="Equation.DSMT4">
                  <p:embed/>
                </p:oleObj>
              </mc:Choice>
              <mc:Fallback>
                <p:oleObj name="Equation" r:id="rId3" imgW="2171700" imgH="3860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38" y="1158875"/>
                        <a:ext cx="2852737" cy="506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Выноска со стрелкой вверх 8">
            <a:extLst>
              <a:ext uri="{FF2B5EF4-FFF2-40B4-BE49-F238E27FC236}">
                <a16:creationId xmlns:a16="http://schemas.microsoft.com/office/drawing/2014/main" id="{18652DCC-D7F7-4881-B9D0-91201B0EB083}"/>
              </a:ext>
            </a:extLst>
          </p:cNvPr>
          <p:cNvSpPr/>
          <p:nvPr/>
        </p:nvSpPr>
        <p:spPr bwMode="auto">
          <a:xfrm>
            <a:off x="5788025" y="3103563"/>
            <a:ext cx="2451100" cy="3170237"/>
          </a:xfrm>
          <a:prstGeom prst="upArrowCallout">
            <a:avLst>
              <a:gd name="adj1" fmla="val 25000"/>
              <a:gd name="adj2" fmla="val 25000"/>
              <a:gd name="adj3" fmla="val 5672"/>
              <a:gd name="adj4" fmla="val 90726"/>
            </a:avLst>
          </a:prstGeom>
          <a:solidFill>
            <a:schemeClr val="bg1">
              <a:lumMod val="50000"/>
              <a:alpha val="16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>
              <a:defRPr/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53" name="Picture 9">
            <a:extLst>
              <a:ext uri="{FF2B5EF4-FFF2-40B4-BE49-F238E27FC236}">
                <a16:creationId xmlns:a16="http://schemas.microsoft.com/office/drawing/2014/main" id="{10ED7DFF-CC1E-41C7-AA24-5FD6E5C6F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38813" y="1147763"/>
            <a:ext cx="2951162" cy="5133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ver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Заголовок 1">
            <a:extLst>
              <a:ext uri="{FF2B5EF4-FFF2-40B4-BE49-F238E27FC236}">
                <a16:creationId xmlns:a16="http://schemas.microsoft.com/office/drawing/2014/main" id="{A8FD41F1-E48A-44A7-AE00-6E251E57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17500"/>
            <a:ext cx="7772400" cy="6365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/>
              <a:t>Зависимость цены</a:t>
            </a:r>
            <a:br>
              <a:rPr lang="ru-RU" sz="3600"/>
            </a:br>
            <a:r>
              <a:rPr lang="ru-RU" sz="3600"/>
              <a:t>от расстояния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60A0F233-4041-4C27-9232-2D45739CA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88" y="1352550"/>
            <a:ext cx="4443412" cy="5048250"/>
          </a:xfrm>
        </p:spPr>
        <p:txBody>
          <a:bodyPr rtlCol="0">
            <a:normAutofit fontScale="5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dirty="0"/>
              <a:t>Для производства двух видов продукции используется единственный ресурс. Найти план производства, обеспечивающий максимальную прибыль, при следующих условиях:</a:t>
            </a:r>
            <a:endParaRPr lang="en-US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Продукция реализуется на заключённой в окружность площади, пропорциональной объёму производства, из расчёта 15 и 20 единиц продукции первого и второго вида на 1 км</a:t>
            </a:r>
            <a:r>
              <a:rPr lang="ru-RU" baseline="30000" dirty="0"/>
              <a:t>2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Доставка к местам реализации осуществляется по прямой согласно тарифу 1,5 </a:t>
            </a:r>
            <a:r>
              <a:rPr lang="ru-RU" dirty="0" err="1"/>
              <a:t>у.е</a:t>
            </a:r>
            <a:r>
              <a:rPr lang="ru-RU" dirty="0"/>
              <a:t>. за 1 км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Цена реализации продукции первого вида растёт с расстоянием согласно закону (5+0,5</a:t>
            </a:r>
            <a:r>
              <a:rPr lang="ru-RU" i="1" dirty="0"/>
              <a:t>d</a:t>
            </a:r>
            <a:r>
              <a:rPr lang="ru-RU" dirty="0"/>
              <a:t>), а второго – (10+0,5d) </a:t>
            </a:r>
            <a:r>
              <a:rPr lang="ru-RU" dirty="0" err="1"/>
              <a:t>у.е</a:t>
            </a:r>
            <a:r>
              <a:rPr lang="ru-RU" dirty="0"/>
              <a:t>., где </a:t>
            </a:r>
            <a:r>
              <a:rPr lang="ru-RU" i="1" dirty="0" err="1"/>
              <a:t>d</a:t>
            </a:r>
            <a:r>
              <a:rPr lang="ru-RU" dirty="0"/>
              <a:t> – расстояние в километрах.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Затраты ресурса на продукцию – 10 и 25 единиц.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Имеется 10 млн. единиц ресурса.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176" name="Rectangle 1060">
            <a:extLst>
              <a:ext uri="{FF2B5EF4-FFF2-40B4-BE49-F238E27FC236}">
                <a16:creationId xmlns:a16="http://schemas.microsoft.com/office/drawing/2014/main" id="{0F7D7B94-BCD5-40C1-8364-CE39AD9121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7177" name="Rectangle 1061">
            <a:extLst>
              <a:ext uri="{FF2B5EF4-FFF2-40B4-BE49-F238E27FC236}">
                <a16:creationId xmlns:a16="http://schemas.microsoft.com/office/drawing/2014/main" id="{542FD5CD-CF5C-4431-924C-7FBB25570F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0240C21-CA74-4659-A808-075D5BC76B79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16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50A3C-4624-48E2-9716-5CDD8D5F8A7C}"/>
              </a:ext>
            </a:extLst>
          </p:cNvPr>
          <p:cNvSpPr txBox="1"/>
          <p:nvPr/>
        </p:nvSpPr>
        <p:spPr>
          <a:xfrm>
            <a:off x="239713" y="947738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</a:t>
            </a:r>
          </a:p>
        </p:txBody>
      </p:sp>
      <p:graphicFrame>
        <p:nvGraphicFramePr>
          <p:cNvPr id="19463" name="Object 3">
            <a:extLst>
              <a:ext uri="{FF2B5EF4-FFF2-40B4-BE49-F238E27FC236}">
                <a16:creationId xmlns:a16="http://schemas.microsoft.com/office/drawing/2014/main" id="{015818A6-9A8E-44F4-BBE0-BE3FF9D9B3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2638" y="1158875"/>
          <a:ext cx="2852737" cy="506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3" imgW="2171700" imgH="3860800" progId="Equation.DSMT4">
                  <p:embed/>
                </p:oleObj>
              </mc:Choice>
              <mc:Fallback>
                <p:oleObj name="Equation" r:id="rId3" imgW="2171700" imgH="3860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38" y="1158875"/>
                        <a:ext cx="2852737" cy="506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Выноска со стрелкой вверх 8">
            <a:extLst>
              <a:ext uri="{FF2B5EF4-FFF2-40B4-BE49-F238E27FC236}">
                <a16:creationId xmlns:a16="http://schemas.microsoft.com/office/drawing/2014/main" id="{77FCA1B2-9681-45D1-ABED-EBD6B3EFDCAE}"/>
              </a:ext>
            </a:extLst>
          </p:cNvPr>
          <p:cNvSpPr/>
          <p:nvPr/>
        </p:nvSpPr>
        <p:spPr bwMode="auto">
          <a:xfrm>
            <a:off x="5788025" y="3103563"/>
            <a:ext cx="2451100" cy="3170237"/>
          </a:xfrm>
          <a:prstGeom prst="upArrowCallout">
            <a:avLst>
              <a:gd name="adj1" fmla="val 25000"/>
              <a:gd name="adj2" fmla="val 25000"/>
              <a:gd name="adj3" fmla="val 5672"/>
              <a:gd name="adj4" fmla="val 90726"/>
            </a:avLst>
          </a:prstGeom>
          <a:solidFill>
            <a:schemeClr val="bg1">
              <a:lumMod val="50000"/>
              <a:alpha val="16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>
              <a:defRPr/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F02CC0F-434E-4C24-816D-15FF6BF52738}"/>
              </a:ext>
            </a:extLst>
          </p:cNvPr>
          <p:cNvSpPr/>
          <p:nvPr/>
        </p:nvSpPr>
        <p:spPr bwMode="auto">
          <a:xfrm>
            <a:off x="1257300" y="3243263"/>
            <a:ext cx="4086225" cy="1343025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Задача не выпуклая!</a:t>
            </a:r>
          </a:p>
          <a:p>
            <a:pPr>
              <a:defRPr/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Ограничения 2 и 3 вогнуты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cover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Заголовок 1">
            <a:extLst>
              <a:ext uri="{FF2B5EF4-FFF2-40B4-BE49-F238E27FC236}">
                <a16:creationId xmlns:a16="http://schemas.microsoft.com/office/drawing/2014/main" id="{52F8ACCB-84D3-479A-A7FA-494AADFF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17500"/>
            <a:ext cx="7772400" cy="636588"/>
          </a:xfrm>
        </p:spPr>
        <p:txBody>
          <a:bodyPr rtlCol="0"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ru-RU" sz="3600"/>
              <a:t>Олигопольные рынки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27EBBDA6-196C-41C4-A6F6-46A276D62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988" y="1439863"/>
            <a:ext cx="4257675" cy="4464050"/>
          </a:xfrm>
        </p:spPr>
        <p:txBody>
          <a:bodyPr rtlCol="0">
            <a:normAutofit fontScale="5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dirty="0"/>
              <a:t>Для производства двух видов продукции используются два ресурса. Найти план производства, обеспечивающий максимальную выручку, при следующих условиях: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на единицу первого продукта из них расходуется 0,5 и 1 ед. каждого ресурса, второго – 1,5 и 0,5 ед.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Ресурсы имеются в объёмах 1000 ед. каждый.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При объёме выпуска </a:t>
            </a:r>
            <a:r>
              <a:rPr lang="ru-RU" sz="27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100</a:t>
            </a:r>
            <a:r>
              <a:rPr lang="ru-RU" dirty="0"/>
              <a:t> ед. цена первого продукта составляет </a:t>
            </a:r>
            <a:r>
              <a:rPr lang="ru-RU" sz="27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4</a:t>
            </a:r>
            <a:r>
              <a:rPr lang="ru-RU" dirty="0"/>
              <a:t> руб., второго – 6 руб.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Увеличение объёма производства на 1% приводит к снижению цены первого продукта на </a:t>
            </a:r>
            <a:r>
              <a:rPr lang="ru-RU" sz="27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Times New Roman" pitchFamily="18" charset="0"/>
              </a:rPr>
              <a:t>0,5</a:t>
            </a:r>
            <a:r>
              <a:rPr lang="ru-RU" dirty="0"/>
              <a:t>%, второго – на 1%.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ru-RU" dirty="0"/>
              <a:t>Минимальный технологически оправданный объём производства каждого продукта – 50 ед.</a:t>
            </a:r>
            <a:r>
              <a:rPr lang="en-US" dirty="0"/>
              <a:t> </a:t>
            </a:r>
            <a:r>
              <a:rPr lang="ru-RU" sz="200" dirty="0">
                <a:solidFill>
                  <a:schemeClr val="bg1">
                    <a:lumMod val="85000"/>
                  </a:schemeClr>
                </a:solidFill>
                <a:sym typeface="Euclid Math Two"/>
              </a:rPr>
              <a:t></a:t>
            </a:r>
            <a:endParaRPr lang="ru-RU" sz="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200" name="Rectangle 1060">
            <a:extLst>
              <a:ext uri="{FF2B5EF4-FFF2-40B4-BE49-F238E27FC236}">
                <a16:creationId xmlns:a16="http://schemas.microsoft.com/office/drawing/2014/main" id="{CB2257AB-3069-4F01-B911-102F2A4C7C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Экономические приложения выпуклого программирования: числовые модели</a:t>
            </a:r>
            <a:br>
              <a:rPr lang="ru-RU" dirty="0"/>
            </a:br>
            <a:r>
              <a:rPr lang="ru-RU" dirty="0"/>
              <a:t>© Н.М. Светлов, 2007-2015</a:t>
            </a:r>
          </a:p>
        </p:txBody>
      </p:sp>
      <p:sp>
        <p:nvSpPr>
          <p:cNvPr id="8201" name="Rectangle 1061">
            <a:extLst>
              <a:ext uri="{FF2B5EF4-FFF2-40B4-BE49-F238E27FC236}">
                <a16:creationId xmlns:a16="http://schemas.microsoft.com/office/drawing/2014/main" id="{6F2FC6EA-0488-4206-8AC7-9785FF0D1E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0596FE3-BBEF-44CE-9F7F-9F9B84E7439C}" type="slidenum">
              <a:rPr lang="ru-RU" altLang="en-US" sz="1200">
                <a:solidFill>
                  <a:srgbClr val="898989"/>
                </a:solidFill>
              </a:rPr>
              <a:pPr eaLnBrk="1" hangingPunct="1"/>
              <a:t>17</a:t>
            </a:fld>
            <a:r>
              <a:rPr lang="ru-RU" altLang="en-US" sz="1200">
                <a:solidFill>
                  <a:srgbClr val="898989"/>
                </a:solidFill>
              </a:rPr>
              <a:t>/17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A1150-82C8-4E3F-968E-EC6630F13411}"/>
              </a:ext>
            </a:extLst>
          </p:cNvPr>
          <p:cNvSpPr txBox="1"/>
          <p:nvPr/>
        </p:nvSpPr>
        <p:spPr>
          <a:xfrm>
            <a:off x="239713" y="947738"/>
            <a:ext cx="798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</a:t>
            </a:r>
          </a:p>
        </p:txBody>
      </p:sp>
      <p:graphicFrame>
        <p:nvGraphicFramePr>
          <p:cNvPr id="20487" name="Object 7">
            <a:extLst>
              <a:ext uri="{FF2B5EF4-FFF2-40B4-BE49-F238E27FC236}">
                <a16:creationId xmlns:a16="http://schemas.microsoft.com/office/drawing/2014/main" id="{8EA1A33F-A8F1-43AE-9FC8-55893CF8BC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3350" y="2481263"/>
          <a:ext cx="3948113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3" imgW="1955800" imgH="965200" progId="Equation.DSMT4">
                  <p:embed/>
                </p:oleObj>
              </mc:Choice>
              <mc:Fallback>
                <p:oleObj name="Equation" r:id="rId3" imgW="1955800" imgH="965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2481263"/>
                        <a:ext cx="3948113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9" name="Picture 8">
            <a:extLst>
              <a:ext uri="{FF2B5EF4-FFF2-40B4-BE49-F238E27FC236}">
                <a16:creationId xmlns:a16="http://schemas.microsoft.com/office/drawing/2014/main" id="{66C4A9CF-1BC6-4B32-A4B7-0CB41F9AB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14938" y="2486025"/>
            <a:ext cx="3943350" cy="1943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8" name="Скругленная прямоугольная выноска 7">
            <a:extLst>
              <a:ext uri="{FF2B5EF4-FFF2-40B4-BE49-F238E27FC236}">
                <a16:creationId xmlns:a16="http://schemas.microsoft.com/office/drawing/2014/main" id="{F89BD29F-F3DC-4325-B5B7-FF72642094A7}"/>
              </a:ext>
            </a:extLst>
          </p:cNvPr>
          <p:cNvSpPr/>
          <p:nvPr/>
        </p:nvSpPr>
        <p:spPr bwMode="auto">
          <a:xfrm>
            <a:off x="5645150" y="1341438"/>
            <a:ext cx="1798638" cy="744537"/>
          </a:xfrm>
          <a:prstGeom prst="wedgeRoundRectCallout">
            <a:avLst>
              <a:gd name="adj1" fmla="val -21847"/>
              <a:gd name="adj2" fmla="val 117723"/>
              <a:gd name="adj3" fmla="val 16667"/>
            </a:avLst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>
            <a:normAutofit/>
          </a:bodyPr>
          <a:lstStyle/>
          <a:p>
            <a:pPr>
              <a:defRPr/>
            </a:pP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0,</a:t>
            </a:r>
            <a:r>
              <a:rPr lang="ru-RU" baseline="30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)·</a:t>
            </a:r>
            <a:r>
              <a:rPr lang="ru-RU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</p:spTree>
  </p:cSld>
  <p:clrMapOvr>
    <a:masterClrMapping/>
  </p:clrMapOvr>
  <p:transition>
    <p:cover dir="rd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28924</TotalTime>
  <Words>1272</Words>
  <Application>Microsoft Office PowerPoint</Application>
  <PresentationFormat>Экран (4:3)</PresentationFormat>
  <Paragraphs>183</Paragraphs>
  <Slides>17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Лекция 8. Экономические приложения выпуклого программирования: числовые модели</vt:lpstr>
      <vt:lpstr>Литература</vt:lpstr>
      <vt:lpstr>Градиентные методы решения задач выпуклого программирования</vt:lpstr>
      <vt:lpstr>Презентация PowerPoint</vt:lpstr>
      <vt:lpstr>Замечания</vt:lpstr>
      <vt:lpstr>Программное обеспечение </vt:lpstr>
      <vt:lpstr>Линеаризация задач математического программирования</vt:lpstr>
      <vt:lpstr>Презентация PowerPoint</vt:lpstr>
      <vt:lpstr>Презентация PowerPoint</vt:lpstr>
      <vt:lpstr>Прикладные модели нелинейного программирования</vt:lpstr>
      <vt:lpstr>Учёт эффекта масштаба</vt:lpstr>
      <vt:lpstr>Учёт эффекта масштаба</vt:lpstr>
      <vt:lpstr>Учёт эффекта масштаба</vt:lpstr>
      <vt:lpstr>Презентация PowerPoint</vt:lpstr>
      <vt:lpstr>Зависимость цены от расстояния</vt:lpstr>
      <vt:lpstr>Зависимость цены от расстояния</vt:lpstr>
      <vt:lpstr>Олигопольные рынки</vt:lpstr>
    </vt:vector>
  </TitlesOfParts>
  <Company>МГЛУ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Экономические приложения выпуклого программирования: числовые модели</dc:title>
  <dc:creator>Н. Светлов</dc:creator>
  <cp:lastModifiedBy>Н. Светлов</cp:lastModifiedBy>
  <cp:revision>624</cp:revision>
  <cp:lastPrinted>1601-01-01T00:00:00Z</cp:lastPrinted>
  <dcterms:created xsi:type="dcterms:W3CDTF">2005-08-31T17:48:52Z</dcterms:created>
  <dcterms:modified xsi:type="dcterms:W3CDTF">2020-10-09T15:05:22Z</dcterms:modified>
</cp:coreProperties>
</file>